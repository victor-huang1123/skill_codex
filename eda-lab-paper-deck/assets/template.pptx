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3"/>
  </p:notesMasterIdLst>
  <p:handoutMasterIdLst>
    <p:handoutMasterId r:id="rId24"/>
  </p:handoutMasterIdLst>
  <p:sldIdLst>
    <p:sldId id="1164" r:id="rId2"/>
    <p:sldId id="1163" r:id="rId3"/>
    <p:sldId id="1182" r:id="rId4"/>
    <p:sldId id="1204" r:id="rId5"/>
    <p:sldId id="1197" r:id="rId6"/>
    <p:sldId id="1193" r:id="rId7"/>
    <p:sldId id="1185" r:id="rId8"/>
    <p:sldId id="1205" r:id="rId9"/>
    <p:sldId id="1186" r:id="rId10"/>
    <p:sldId id="1194" r:id="rId11"/>
    <p:sldId id="1183" r:id="rId12"/>
    <p:sldId id="1206" r:id="rId13"/>
    <p:sldId id="1207" r:id="rId14"/>
    <p:sldId id="1208" r:id="rId15"/>
    <p:sldId id="1184" r:id="rId16"/>
    <p:sldId id="1200" r:id="rId17"/>
    <p:sldId id="1209" r:id="rId18"/>
    <p:sldId id="1187" r:id="rId19"/>
    <p:sldId id="1203" r:id="rId20"/>
    <p:sldId id="1210" r:id="rId21"/>
    <p:sldId id="296" r:id="rId22"/>
  </p:sldIdLst>
  <p:sldSz cx="12192000" cy="6858000"/>
  <p:notesSz cx="6797675" cy="9928225"/>
  <p:defaultTextStyle>
    <a:defPPr>
      <a:defRPr lang="zh-Hant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95688"/>
    <a:srgbClr val="9F403B"/>
    <a:srgbClr val="C49B26"/>
    <a:srgbClr val="B48100"/>
    <a:srgbClr val="598341"/>
    <a:srgbClr val="557EBB"/>
    <a:srgbClr val="9571A5"/>
    <a:srgbClr val="C25E5A"/>
    <a:srgbClr val="DEBC56"/>
    <a:srgbClr val="DFA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93D81CF-94F2-401A-BA57-92F5A7B2D0C5}" styleName="中等深淺樣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E171933-4619-4E11-9A3F-F7608DF75F80}" styleName="中等深淺樣式 1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中等深淺樣式 3 - 輔色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中等深淺樣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中等深淺樣式 4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中等深淺樣式 3 - 輔色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05" autoAdjust="0"/>
    <p:restoredTop sz="82449" autoAdjust="0"/>
  </p:normalViewPr>
  <p:slideViewPr>
    <p:cSldViewPr>
      <p:cViewPr varScale="1">
        <p:scale>
          <a:sx n="95" d="100"/>
          <a:sy n="95" d="100"/>
        </p:scale>
        <p:origin x="216" y="3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338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>
      <p:cViewPr varScale="1">
        <p:scale>
          <a:sx n="89" d="100"/>
          <a:sy n="89" d="100"/>
        </p:scale>
        <p:origin x="2976" y="184"/>
      </p:cViewPr>
      <p:guideLst>
        <p:guide orient="horz" pos="3127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8E3E32E-25DC-4F90-BC71-1204820C214C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6200739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443" y="0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2355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8900" y="744538"/>
            <a:ext cx="6619875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</a:extLst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Hant" altLang="en-US" noProof="0"/>
              <a:t>按一下以編輯母片</a:t>
            </a:r>
          </a:p>
          <a:p>
            <a:pPr lvl="1"/>
            <a:r>
              <a:rPr lang="zh-Hant" altLang="en-US" noProof="0"/>
              <a:t>第二層</a:t>
            </a:r>
          </a:p>
          <a:p>
            <a:pPr lvl="2"/>
            <a:r>
              <a:rPr lang="zh-Hant" altLang="en-US" noProof="0"/>
              <a:t>第三層</a:t>
            </a:r>
          </a:p>
          <a:p>
            <a:pPr lvl="3"/>
            <a:r>
              <a:rPr lang="zh-Hant" altLang="en-US" noProof="0"/>
              <a:t>第四層</a:t>
            </a:r>
          </a:p>
          <a:p>
            <a:pPr lvl="4"/>
            <a:r>
              <a:rPr lang="zh-Hant" altLang="en-US" noProof="0"/>
              <a:t>第五層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Hant" dirty="0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443" y="9430091"/>
            <a:ext cx="2945659" cy="496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22" tIns="45711" rIns="91422" bIns="4571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805D155-4C6A-4B13-920E-C2B08AFD570F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12130959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1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TW" altLang="en-US" b="1" dirty="0"/>
              <a:t>亞利桑那州立大學（</a:t>
            </a:r>
            <a:r>
              <a:rPr lang="en" altLang="zh-TW" b="1" dirty="0"/>
              <a:t>ASU</a:t>
            </a:r>
            <a:r>
              <a:rPr lang="zh-TW" altLang="en" b="1" dirty="0"/>
              <a:t>）</a:t>
            </a:r>
            <a:r>
              <a:rPr lang="zh-TW" altLang="en-US" b="1" dirty="0"/>
              <a:t>倫斯勒理工學院（</a:t>
            </a:r>
            <a:r>
              <a:rPr lang="en" altLang="zh-TW" b="1" dirty="0"/>
              <a:t>RPI</a:t>
            </a:r>
            <a:r>
              <a:rPr lang="zh-TW" altLang="en" b="1" dirty="0"/>
              <a:t>）</a:t>
            </a:r>
            <a:r>
              <a:rPr lang="zh-TW" altLang="en-US" b="1" dirty="0"/>
              <a:t>跟</a:t>
            </a:r>
            <a:r>
              <a:rPr lang="en-US" altLang="zh-TW" b="1" dirty="0"/>
              <a:t>NV</a:t>
            </a:r>
            <a:r>
              <a:rPr lang="zh-TW" altLang="en-US" b="1" dirty="0"/>
              <a:t>合作</a:t>
            </a:r>
            <a:endParaRPr lang="en" altLang="zh-TW" dirty="0"/>
          </a:p>
          <a:p>
            <a:pPr marL="228554" lvl="0" indent="-15235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0093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高速連接需求 太多元件因此需要自動繞</a:t>
            </a:r>
            <a:endParaRPr kumimoji="1" lang="en-US" altLang="zh-TW" dirty="0"/>
          </a:p>
          <a:p>
            <a:r>
              <a:rPr kumimoji="1" lang="zh-TW" altLang="en-US" dirty="0"/>
              <a:t>單層居多且滿足最小彎曲半徑</a:t>
            </a:r>
            <a:endParaRPr kumimoji="1" lang="en-US" altLang="zh-TW" dirty="0"/>
          </a:p>
          <a:p>
            <a:r>
              <a:rPr lang="zh-TW" altLang="en-US" b="1" dirty="0"/>
              <a:t>光訊號在元件之間傳遞時不被失真、衰減、或互相干擾</a:t>
            </a:r>
            <a:r>
              <a:rPr lang="zh-TW" altLang="en-US" dirty="0"/>
              <a:t> </a:t>
            </a:r>
            <a:endParaRPr kumimoji="1" lang="en-US" altLang="zh-TW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4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2108232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交叉看作點而過度簡化</a:t>
            </a:r>
            <a:endParaRPr lang="en-US" altLang="zh-TW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US" altLang="zh-TW" b="1" i="0" u="none" strike="noStrike" dirty="0">
                <a:solidFill>
                  <a:srgbClr val="000000"/>
                </a:solidFill>
                <a:effectLst/>
              </a:rPr>
              <a:t>Differential engine</a:t>
            </a:r>
            <a:r>
              <a:rPr lang="zh-TW" altLang="en-US" b="1" i="0" u="none" strike="noStrike" dirty="0">
                <a:solidFill>
                  <a:srgbClr val="000000"/>
                </a:solidFill>
                <a:effectLst/>
              </a:rPr>
              <a:t>和</a:t>
            </a:r>
            <a:r>
              <a:rPr lang="en-US" altLang="zh-TW" b="1" i="0" u="none" strike="noStrike" dirty="0" err="1">
                <a:solidFill>
                  <a:srgbClr val="000000"/>
                </a:solidFill>
                <a:effectLst/>
              </a:rPr>
              <a:t>pytorch</a:t>
            </a:r>
            <a:r>
              <a:rPr lang="zh-TW" altLang="en-US" b="1" i="0" u="none" strike="noStrike" dirty="0">
                <a:solidFill>
                  <a:srgbClr val="000000"/>
                </a:solidFill>
                <a:effectLst/>
              </a:rPr>
              <a:t>進行加速</a:t>
            </a:r>
            <a:endParaRPr lang="en-US" altLang="zh-TW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把</a:t>
            </a:r>
            <a:r>
              <a:rPr kumimoji="1" lang="en-US" altLang="zh-TW" b="1" i="0" u="none" strike="noStrike" dirty="0">
                <a:solidFill>
                  <a:srgbClr val="000000"/>
                </a:solidFill>
                <a:effectLst/>
              </a:rPr>
              <a:t>macro</a:t>
            </a:r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視為電荷進行移動</a:t>
            </a:r>
            <a:r>
              <a:rPr kumimoji="1" lang="en-US" altLang="zh-TW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適合處理</a:t>
            </a:r>
            <a:r>
              <a:rPr kumimoji="1" lang="en-US" altLang="zh-TW" b="1" i="0" u="none" strike="noStrike" dirty="0">
                <a:solidFill>
                  <a:srgbClr val="000000"/>
                </a:solidFill>
                <a:effectLst/>
              </a:rPr>
              <a:t>mixed size</a:t>
            </a:r>
          </a:p>
          <a:p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建立光子繞線基準</a:t>
            </a:r>
            <a:r>
              <a:rPr kumimoji="1" lang="en-US" altLang="zh-TW" b="1" i="0" u="none" strike="noStrike" dirty="0">
                <a:solidFill>
                  <a:srgbClr val="000000"/>
                </a:solidFill>
                <a:effectLst/>
              </a:rPr>
              <a:t>(</a:t>
            </a:r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預留空間</a:t>
            </a:r>
            <a:r>
              <a:rPr kumimoji="1" lang="en-US" altLang="zh-TW" b="1" i="0" u="none" strike="noStrike" dirty="0">
                <a:solidFill>
                  <a:srgbClr val="000000"/>
                </a:solidFill>
                <a:effectLst/>
              </a:rPr>
              <a:t>)</a:t>
            </a:r>
            <a:r>
              <a:rPr kumimoji="1" lang="zh-TW" altLang="en-US" b="1" i="0" u="none" strike="noStrike" dirty="0">
                <a:solidFill>
                  <a:srgbClr val="000000"/>
                </a:solidFill>
                <a:effectLst/>
              </a:rPr>
              <a:t>並提供驗證方式</a:t>
            </a:r>
            <a:endParaRPr kumimoji="1" lang="en-US" altLang="zh-TW" b="1" i="0" u="none" strike="noStrike" dirty="0">
              <a:solidFill>
                <a:srgbClr val="000000"/>
              </a:solidFill>
              <a:effectLst/>
            </a:endParaRP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5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430774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確保了不同尺寸（</a:t>
            </a:r>
            <a:r>
              <a:rPr lang="en" altLang="zh-TW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Mixed-size</a:t>
            </a:r>
            <a:r>
              <a:rPr lang="zh-TW" altLang="e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）</a:t>
            </a:r>
            <a:r>
              <a:rPr lang="zh-TW" altLang="en-US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的組件能在滿足物理約束的前提下，達到最優的分佈與佈線可行性。</a:t>
            </a:r>
            <a:endParaRPr lang="en-US" altLang="zh-TW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r>
              <a:rPr lang="zh-TW" altLang="en-US" b="0" i="0" u="none" strike="noStrike" dirty="0">
                <a:solidFill>
                  <a:srgbClr val="C7C7C7"/>
                </a:solidFill>
                <a:effectLst/>
                <a:latin typeface="Google Sans Text"/>
              </a:rPr>
              <a:t>依靠人工根據邏輯位置放置元件，這在系統規模擴大時非常耗時且難以擴展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8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125231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zh-TW" altLang="en-US" b="0" i="0" u="none" strike="noStrike" dirty="0">
                <a:solidFill>
                  <a:srgbClr val="000000"/>
                </a:solidFill>
                <a:effectLst/>
              </a:rPr>
              <a:t>提出 </a:t>
            </a:r>
            <a:r>
              <a:rPr lang="en" altLang="zh-TW" b="1" i="0" u="none" strike="noStrike" dirty="0" err="1">
                <a:solidFill>
                  <a:srgbClr val="000000"/>
                </a:solidFill>
                <a:effectLst/>
              </a:rPr>
              <a:t>cosWA</a:t>
            </a:r>
            <a:r>
              <a:rPr lang="en" altLang="zh-TW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zh-TW" altLang="en-US" b="0" i="0" u="none" strike="noStrike" dirty="0">
                <a:solidFill>
                  <a:srgbClr val="000000"/>
                </a:solidFill>
                <a:effectLst/>
              </a:rPr>
              <a:t>與 </a:t>
            </a:r>
            <a:r>
              <a:rPr lang="en" altLang="zh-TW" b="1" i="0" u="none" strike="noStrike" dirty="0">
                <a:solidFill>
                  <a:srgbClr val="000000"/>
                </a:solidFill>
                <a:effectLst/>
              </a:rPr>
              <a:t>NS</a:t>
            </a:r>
            <a:r>
              <a:rPr lang="en" altLang="zh-TW" b="0" i="0" u="none" strike="noStrike" dirty="0">
                <a:solidFill>
                  <a:srgbClr val="000000"/>
                </a:solidFill>
                <a:effectLst/>
              </a:rPr>
              <a:t> </a:t>
            </a:r>
            <a:r>
              <a:rPr lang="zh-TW" altLang="en-US" b="0" i="0" u="none" strike="noStrike" dirty="0">
                <a:solidFill>
                  <a:srgbClr val="000000"/>
                </a:solidFill>
                <a:effectLst/>
              </a:rPr>
              <a:t>模型，將原本離散的光學角度損耗與佈線擁塞問題，轉化為連續可微的懲罰項。</a:t>
            </a:r>
            <a:endParaRPr lang="en-US" altLang="zh-TW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zh-TW" altLang="en-US" b="0" i="0" u="none" strike="noStrike" dirty="0">
                <a:solidFill>
                  <a:srgbClr val="000000"/>
                </a:solidFill>
                <a:effectLst/>
              </a:rPr>
              <a:t>高效地在「最短路徑」與「最高佈線可行性」之間取得最佳平衡。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12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9615274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核心行為</a:t>
            </a:r>
            <a:r>
              <a:rPr lang="zh-TW" altLang="en-US" dirty="0"/>
              <a:t>：利用 </a:t>
            </a:r>
            <a:r>
              <a:rPr lang="en" altLang="zh-TW" dirty="0"/>
              <a:t>CPGD </a:t>
            </a:r>
            <a:r>
              <a:rPr lang="zh-TW" altLang="en-US" dirty="0"/>
              <a:t>投影機制將組件引導至理想座標（如群組質心），確保光子電路陣列的規律性與對齊。</a:t>
            </a:r>
          </a:p>
          <a:p>
            <a:r>
              <a:rPr lang="zh-TW" altLang="en-US" b="1" dirty="0"/>
              <a:t>優化策略</a:t>
            </a:r>
            <a:r>
              <a:rPr lang="zh-TW" altLang="en-US" dirty="0"/>
              <a:t>：透過漸進式銳利度參數 </a:t>
            </a:r>
            <a:r>
              <a:rPr lang="en" altLang="zh-TW" dirty="0" err="1"/>
              <a:t>s</a:t>
            </a:r>
            <a:r>
              <a:rPr lang="en" altLang="zh-TW" dirty="0" err="1">
                <a:effectLst/>
              </a:rPr>
              <a:t>t</a:t>
            </a:r>
            <a:r>
              <a:rPr lang="en" altLang="zh-TW" dirty="0"/>
              <a:t>​ </a:t>
            </a:r>
            <a:r>
              <a:rPr lang="zh-TW" altLang="en-US" dirty="0"/>
              <a:t>達成「先全局優化、後精確對齊」，在滿足設計約束的同時維持 </a:t>
            </a:r>
            <a:r>
              <a:rPr lang="en-US" altLang="zh-TW" dirty="0"/>
              <a:t>97% </a:t>
            </a:r>
            <a:r>
              <a:rPr lang="zh-TW" altLang="en-US" dirty="0"/>
              <a:t>以上的高佈線成功率。</a:t>
            </a:r>
          </a:p>
          <a:p>
            <a:r>
              <a:rPr lang="zh-TW" altLang="en-US" b="1" dirty="0"/>
              <a:t>物理考量</a:t>
            </a:r>
            <a:r>
              <a:rPr lang="zh-TW" altLang="en-US" dirty="0"/>
              <a:t>：結合組件膨脹技術（</a:t>
            </a:r>
            <a:r>
              <a:rPr lang="en" altLang="zh-TW" dirty="0"/>
              <a:t>Cell Inflation</a:t>
            </a:r>
            <a:r>
              <a:rPr lang="zh-TW" altLang="en" dirty="0"/>
              <a:t>）</a:t>
            </a:r>
            <a:r>
              <a:rPr lang="zh-TW" altLang="en-US" dirty="0"/>
              <a:t>來增加物理間距，有效降低熱串擾並為波導轉彎預留所需的佈線路權。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13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1479006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1" dirty="0"/>
              <a:t>歷史梯度跟當前梯度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14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67493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805D155-4C6A-4B13-920E-C2B08AFD570F}" type="slidenum">
              <a:rPr lang="en-US" altLang="zh-Hant" smtClean="0"/>
              <a:pPr>
                <a:defRPr/>
              </a:pPr>
              <a:t>19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1771883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7:notes"/>
          <p:cNvSpPr txBox="1">
            <a:spLocks noGrp="1"/>
          </p:cNvSpPr>
          <p:nvPr>
            <p:ph type="body" idx="1"/>
          </p:nvPr>
        </p:nvSpPr>
        <p:spPr>
          <a:xfrm>
            <a:off x="679768" y="4715907"/>
            <a:ext cx="5438100" cy="446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45700" rIns="91400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7" name="Google Shape;557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hyperlink" Target="http://www.ntu.edu.tw/chinese/PageB.php" TargetMode="Externa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>
            <a:spLocks noChangeArrowheads="1"/>
          </p:cNvSpPr>
          <p:nvPr userDrawn="1"/>
        </p:nvSpPr>
        <p:spPr bwMode="gray">
          <a:xfrm>
            <a:off x="719668" y="3213103"/>
            <a:ext cx="10968567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Hant" altLang="en-US" sz="240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" name="Rectangle 7"/>
          <p:cNvSpPr>
            <a:spLocks noChangeArrowheads="1"/>
          </p:cNvSpPr>
          <p:nvPr userDrawn="1"/>
        </p:nvSpPr>
        <p:spPr bwMode="auto">
          <a:xfrm>
            <a:off x="4572000" y="6400800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Hant" sz="1000" dirty="0"/>
              <a:t>The EDA Laboratory</a:t>
            </a: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628778"/>
            <a:ext cx="10363200" cy="1470025"/>
          </a:xfrm>
        </p:spPr>
        <p:txBody>
          <a:bodyPr/>
          <a:lstStyle>
            <a:lvl1pPr>
              <a:defRPr b="1">
                <a:ea typeface="標楷體" pitchFamily="65" charset="-120"/>
              </a:defRPr>
            </a:lvl1pPr>
          </a:lstStyle>
          <a:p>
            <a:pPr lvl="0"/>
            <a:r>
              <a:rPr lang="zh-Hant" altLang="en-US" noProof="0" dirty="0"/>
              <a:t>按一下以編輯母片標題樣式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357563"/>
            <a:ext cx="8534400" cy="1752600"/>
          </a:xfrm>
        </p:spPr>
        <p:txBody>
          <a:bodyPr/>
          <a:lstStyle>
            <a:lvl1pPr marL="0" indent="0" algn="ctr">
              <a:buFont typeface="標楷體" pitchFamily="65" charset="-120"/>
              <a:buNone/>
              <a:defRPr>
                <a:ea typeface="標楷體" pitchFamily="65" charset="-120"/>
              </a:defRPr>
            </a:lvl1pPr>
          </a:lstStyle>
          <a:p>
            <a:pPr lvl="0"/>
            <a:r>
              <a:rPr lang="zh-Hant" altLang="en-US" noProof="0"/>
              <a:t>按一下以編輯母片副標題樣式</a:t>
            </a:r>
          </a:p>
        </p:txBody>
      </p:sp>
      <p:sp>
        <p:nvSpPr>
          <p:cNvPr id="11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12" name="Rectangle 5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 algn="r">
              <a:defRPr sz="1200" i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B669535D-99B8-4C4F-9AC5-30555C9A9870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995187020"/>
      </p:ext>
    </p:extLst>
  </p:cSld>
  <p:clrMapOvr>
    <a:masterClrMapping/>
  </p:clrMapOvr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zh-Hant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3pPr>
              <a:defRPr sz="1800"/>
            </a:lvl3pPr>
          </a:lstStyle>
          <a:p>
            <a:pPr lvl="0"/>
            <a:r>
              <a:rPr lang="zh-Hant" altLang="en-US" dirty="0"/>
              <a:t>按一下以編輯母片文字樣式</a:t>
            </a:r>
          </a:p>
          <a:p>
            <a:pPr lvl="1"/>
            <a:r>
              <a:rPr lang="zh-Hant" altLang="en-US" dirty="0"/>
              <a:t>第二層</a:t>
            </a:r>
          </a:p>
          <a:p>
            <a:pPr lvl="2"/>
            <a:r>
              <a:rPr lang="zh-Hant" altLang="en-US" dirty="0"/>
              <a:t>第三層</a:t>
            </a:r>
          </a:p>
          <a:p>
            <a:pPr lvl="3"/>
            <a:r>
              <a:rPr lang="zh-Hant" altLang="en-US" dirty="0"/>
              <a:t>第四層</a:t>
            </a:r>
          </a:p>
          <a:p>
            <a:pPr lvl="4"/>
            <a:r>
              <a:rPr lang="zh-Hant" altLang="en-US" dirty="0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BD2F5A-77B9-4B8A-9E53-DA43A439DF1A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183176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CB396A-21D2-48EB-BECF-D9F5F663F138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4009949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711200" y="990600"/>
            <a:ext cx="5283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990600"/>
            <a:ext cx="52832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29BEE9-5A74-423D-A522-D0A3EEF2FE3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630399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3BC88-99BD-4C6D-AD4B-DB235EA03011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310823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0678B-80C3-49EF-98EE-8877075EB36F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81016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46171-5519-48EC-A13E-5F47B32F91D1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783441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D48829-B386-4EB8-81E7-387B9CBAFFD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3353867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Hant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Hant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97E45-56D9-4066-A362-82FBA534CE56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334815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DD24C7-CAA2-4CEB-8048-AB89905A5659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231817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88400" y="152400"/>
            <a:ext cx="2692400" cy="5943600"/>
          </a:xfrm>
        </p:spPr>
        <p:txBody>
          <a:bodyPr vert="eaVert"/>
          <a:lstStyle/>
          <a:p>
            <a:r>
              <a:rPr lang="zh-Hant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711200" y="152400"/>
            <a:ext cx="7874000" cy="5943600"/>
          </a:xfrm>
        </p:spPr>
        <p:txBody>
          <a:bodyPr vert="eaVert"/>
          <a:lstStyle/>
          <a:p>
            <a:pPr lvl="0"/>
            <a:r>
              <a:rPr lang="zh-Hant" altLang="en-US"/>
              <a:t>按一下以編輯母片文字樣式</a:t>
            </a:r>
          </a:p>
          <a:p>
            <a:pPr lvl="1"/>
            <a:r>
              <a:rPr lang="zh-Hant" altLang="en-US"/>
              <a:t>第二層</a:t>
            </a:r>
          </a:p>
          <a:p>
            <a:pPr lvl="2"/>
            <a:r>
              <a:rPr lang="zh-Hant" altLang="en-US"/>
              <a:t>第三層</a:t>
            </a:r>
          </a:p>
          <a:p>
            <a:pPr lvl="3"/>
            <a:r>
              <a:rPr lang="zh-Hant" altLang="en-US"/>
              <a:t>第四層</a:t>
            </a:r>
          </a:p>
          <a:p>
            <a:pPr lvl="4"/>
            <a:r>
              <a:rPr lang="zh-Hant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549217-486A-4FC5-8590-DDD2563FAC22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938817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標題投影片">
  <p:cSld name="標題投影片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2" descr="ntu_cocotier"/>
          <p:cNvPicPr preferRelativeResize="0"/>
          <p:nvPr/>
        </p:nvPicPr>
        <p:blipFill rotWithShape="1">
          <a:blip r:embed="rId2">
            <a:alphaModFix/>
          </a:blip>
          <a:srcRect l="32001" t="7194" r="8000" b="7341"/>
          <a:stretch/>
        </p:blipFill>
        <p:spPr>
          <a:xfrm>
            <a:off x="8793876" y="2060847"/>
            <a:ext cx="3259137" cy="414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2" descr="ntu_title0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442450" y="5772286"/>
            <a:ext cx="2343150" cy="101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" name="Google Shape;19;p2"/>
          <p:cNvGrpSpPr/>
          <p:nvPr/>
        </p:nvGrpSpPr>
        <p:grpSpPr>
          <a:xfrm>
            <a:off x="4744566" y="5640659"/>
            <a:ext cx="2592388" cy="771525"/>
            <a:chOff x="2109" y="3067"/>
            <a:chExt cx="1678" cy="499"/>
          </a:xfrm>
        </p:grpSpPr>
        <p:pic>
          <p:nvPicPr>
            <p:cNvPr id="20" name="Google Shape;20;p2" descr="NTU_logo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109" y="3067"/>
              <a:ext cx="499" cy="4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新首頁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653" y="3067"/>
              <a:ext cx="1134" cy="48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" name="Google Shape;22;p2"/>
          <p:cNvSpPr/>
          <p:nvPr/>
        </p:nvSpPr>
        <p:spPr>
          <a:xfrm>
            <a:off x="695400" y="1933575"/>
            <a:ext cx="10968567" cy="28575"/>
          </a:xfrm>
          <a:prstGeom prst="rect">
            <a:avLst/>
          </a:prstGeom>
          <a:gradFill>
            <a:gsLst>
              <a:gs pos="0">
                <a:schemeClr val="dk1"/>
              </a:gs>
              <a:gs pos="50000">
                <a:srgbClr val="C0C0C0"/>
              </a:gs>
              <a:gs pos="100000">
                <a:schemeClr val="dk1"/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4572000" y="6356350"/>
            <a:ext cx="294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EDA Lab</a:t>
            </a:r>
            <a:endParaRPr sz="1200" b="0" i="0" u="none" strike="noStrike" cap="none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965200" y="470172"/>
            <a:ext cx="10160000" cy="130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"/>
          <p:cNvSpPr txBox="1">
            <a:spLocks noGrp="1"/>
          </p:cNvSpPr>
          <p:nvPr>
            <p:ph type="dt" idx="10"/>
          </p:nvPr>
        </p:nvSpPr>
        <p:spPr>
          <a:xfrm>
            <a:off x="9144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67988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11200" y="152400"/>
            <a:ext cx="10668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ant"/>
              <a:t>Click to edit Master title style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1200" y="990600"/>
            <a:ext cx="107696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Hant"/>
              <a:t>Click to edit Master text styles</a:t>
            </a:r>
          </a:p>
          <a:p>
            <a:pPr lvl="1"/>
            <a:r>
              <a:rPr lang="en-US" altLang="zh-Hant"/>
              <a:t>Second level</a:t>
            </a:r>
          </a:p>
          <a:p>
            <a:pPr lvl="2"/>
            <a:r>
              <a:rPr lang="en-US" altLang="zh-Hant"/>
              <a:t>Third level</a:t>
            </a:r>
          </a:p>
          <a:p>
            <a:pPr lvl="3"/>
            <a:r>
              <a:rPr lang="en-US" altLang="zh-Hant"/>
              <a:t>Fourth level</a:t>
            </a:r>
          </a:p>
          <a:p>
            <a:pPr lvl="4"/>
            <a:r>
              <a:rPr lang="en-US" altLang="zh-Hant"/>
              <a:t>Fifth level</a:t>
            </a:r>
          </a:p>
        </p:txBody>
      </p:sp>
      <p:sp>
        <p:nvSpPr>
          <p:cNvPr id="81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0" sz="12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altLang="zh-Hant" dirty="0"/>
              <a:t> GIEE.NTU</a:t>
            </a:r>
            <a:endParaRPr lang="zh-Hant" altLang="zh-Hant"/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 i="0">
                <a:latin typeface="Tahoma" pitchFamily="34" charset="0"/>
                <a:ea typeface="+mn-ea"/>
              </a:defRPr>
            </a:lvl1pPr>
          </a:lstStyle>
          <a:p>
            <a:pPr>
              <a:defRPr/>
            </a:pPr>
            <a:fld id="{9B33945A-0152-4C70-9B70-7124E1BE976D}" type="slidenum">
              <a:rPr lang="en-US" altLang="zh-Hant"/>
              <a:pPr>
                <a:defRPr/>
              </a:pPr>
              <a:t>‹#›</a:t>
            </a:fld>
            <a:endParaRPr lang="en-US" altLang="zh-Hant" dirty="0"/>
          </a:p>
        </p:txBody>
      </p:sp>
      <p:sp>
        <p:nvSpPr>
          <p:cNvPr id="8204" name="Rectangle 12"/>
          <p:cNvSpPr>
            <a:spLocks noChangeArrowheads="1"/>
          </p:cNvSpPr>
          <p:nvPr userDrawn="1"/>
        </p:nvSpPr>
        <p:spPr bwMode="gray">
          <a:xfrm>
            <a:off x="609602" y="838203"/>
            <a:ext cx="10968567" cy="28575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50000">
                <a:srgbClr val="C0C0C0"/>
              </a:gs>
              <a:gs pos="100000">
                <a:schemeClr val="tx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Hant" altLang="en-US" sz="2400">
              <a:latin typeface="Tahoma" pitchFamily="34" charset="0"/>
              <a:ea typeface="新細明體" pitchFamily="18" charset="-120"/>
            </a:endParaRPr>
          </a:p>
        </p:txBody>
      </p:sp>
      <p:sp>
        <p:nvSpPr>
          <p:cNvPr id="1032" name="Rectangle 8"/>
          <p:cNvSpPr>
            <a:spLocks noChangeArrowheads="1"/>
          </p:cNvSpPr>
          <p:nvPr userDrawn="1"/>
        </p:nvSpPr>
        <p:spPr bwMode="auto">
          <a:xfrm>
            <a:off x="4572000" y="6400800"/>
            <a:ext cx="2946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ctr"/>
            <a:r>
              <a:rPr lang="en-US" altLang="zh-Hant" sz="1000" dirty="0"/>
              <a:t>The EDA Laboratory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  <p:sldLayoutId id="2147483750" r:id="rId12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2800">
          <a:solidFill>
            <a:schemeClr val="tx2"/>
          </a:solidFill>
          <a:latin typeface="Arial" charset="0"/>
          <a:ea typeface="新細明體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20000"/>
        <a:buFont typeface="標楷體" pitchFamily="65" charset="-120"/>
        <a:buChar char="․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0099"/>
        </a:buClr>
        <a:buSzPct val="55000"/>
        <a:buFont typeface="Symbol" pitchFamily="18" charset="2"/>
        <a:buChar char="¾"/>
        <a:defRPr kumimoji="1" sz="2000">
          <a:solidFill>
            <a:srgbClr val="000066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3300"/>
        </a:buClr>
        <a:buSzPct val="50000"/>
        <a:buFont typeface="Wingdings" pitchFamily="2" charset="2"/>
        <a:buChar char="n"/>
        <a:defRPr kumimoji="1" sz="2400">
          <a:solidFill>
            <a:srgbClr val="003300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90000"/>
        </a:buClr>
        <a:buSzPct val="55000"/>
        <a:buFont typeface="Wingdings" pitchFamily="2" charset="2"/>
        <a:buChar char="n"/>
        <a:defRPr kumimoji="1" sz="1600">
          <a:solidFill>
            <a:srgbClr val="990000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0066"/>
        </a:buClr>
        <a:buSzPct val="50000"/>
        <a:buFont typeface="Wingdings" pitchFamily="2" charset="2"/>
        <a:buChar char="n"/>
        <a:defRPr kumimoji="1"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Han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jpe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9696400" y="630932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7" name="Google Shape;97;p15"/>
          <p:cNvSpPr txBox="1">
            <a:spLocks noGrp="1"/>
          </p:cNvSpPr>
          <p:nvPr>
            <p:ph type="ctrTitle"/>
          </p:nvPr>
        </p:nvSpPr>
        <p:spPr>
          <a:xfrm>
            <a:off x="929680" y="194194"/>
            <a:ext cx="10225136" cy="167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altLang="zh-TW" b="1" dirty="0"/>
              <a:t>Apollo: Automated Routing-Informed Placement for Large-Scale Photonic Integrated Circuit</a:t>
            </a:r>
            <a:endParaRPr lang="en-US" b="1" dirty="0"/>
          </a:p>
        </p:txBody>
      </p:sp>
      <p:sp>
        <p:nvSpPr>
          <p:cNvPr id="98" name="Google Shape;98;p15"/>
          <p:cNvSpPr/>
          <p:nvPr/>
        </p:nvSpPr>
        <p:spPr>
          <a:xfrm>
            <a:off x="2156048" y="2390312"/>
            <a:ext cx="7772400" cy="18687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altLang="zh-TW" sz="2000" b="1" dirty="0">
                <a:solidFill>
                  <a:srgbClr val="333399"/>
                </a:solidFill>
                <a:ea typeface="標楷體" panose="03000509000000000000" pitchFamily="65" charset="-120"/>
              </a:rPr>
              <a:t>2026-01-08</a:t>
            </a:r>
            <a:endParaRPr lang="en-US"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buSzPts val="2000"/>
            </a:pPr>
            <a:r>
              <a:rPr lang="en-US" altLang="zh-TW" sz="2000" b="1" dirty="0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Presenter: </a:t>
            </a:r>
            <a:r>
              <a:rPr lang="en-US" altLang="zh-TW" sz="2000" b="1" dirty="0" err="1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Zhih</a:t>
            </a:r>
            <a:r>
              <a:rPr lang="en-US" altLang="zh-TW" sz="2000" b="1" dirty="0">
                <a:solidFill>
                  <a:schemeClr val="tx2"/>
                </a:solidFill>
                <a:latin typeface="+mn-lt"/>
                <a:ea typeface="標楷體" panose="03000509000000000000" pitchFamily="65" charset="-120"/>
              </a:rPr>
              <a:t>-Chi Huang</a:t>
            </a:r>
            <a:endParaRPr lang="en-US" altLang="zh-Hant" sz="2000" b="1" dirty="0">
              <a:solidFill>
                <a:schemeClr val="tx2"/>
              </a:solidFill>
              <a:latin typeface="+mn-lt"/>
              <a:ea typeface="標楷體" panose="03000509000000000000" pitchFamily="65" charset="-120"/>
            </a:endParaRPr>
          </a:p>
          <a:p>
            <a:pPr lvl="0" algn="ctr">
              <a:buSzPts val="2000"/>
            </a:pPr>
            <a:r>
              <a:rPr lang="en-US" altLang="zh-TW" sz="2000" b="1" dirty="0">
                <a:solidFill>
                  <a:srgbClr val="000099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</p:txBody>
      </p:sp>
      <p:sp>
        <p:nvSpPr>
          <p:cNvPr id="99" name="Google Shape;99;p15"/>
          <p:cNvSpPr/>
          <p:nvPr/>
        </p:nvSpPr>
        <p:spPr>
          <a:xfrm>
            <a:off x="2667000" y="3929363"/>
            <a:ext cx="6858000" cy="180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The Electronic Design Automation Laboratory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Graduate Institute of Electronics Engineering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National Taiwan University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DFKai-SB"/>
              <a:buNone/>
            </a:pPr>
            <a:r>
              <a:rPr lang="en-US" sz="2000" b="1" i="0" u="none" strike="noStrike" cap="none" dirty="0">
                <a:solidFill>
                  <a:srgbClr val="993300"/>
                </a:solidFill>
                <a:latin typeface="Arial"/>
                <a:ea typeface="Arial"/>
                <a:cs typeface="Arial"/>
                <a:sym typeface="Arial"/>
              </a:rPr>
              <a:t>Taipei 106, Taiwan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2025650" y="2075807"/>
            <a:ext cx="8135938" cy="11138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lang="de-DE" sz="160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GIEE, NTU</a:t>
            </a: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2025650" y="2053948"/>
            <a:ext cx="8135938" cy="500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Published in ICCAD’25</a:t>
            </a:r>
          </a:p>
        </p:txBody>
      </p:sp>
    </p:spTree>
    <p:extLst>
      <p:ext uri="{BB962C8B-B14F-4D97-AF65-F5344CB8AC3E}">
        <p14:creationId xmlns:p14="http://schemas.microsoft.com/office/powerpoint/2010/main" val="2282876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/>
              <a:t>Preliminaries</a:t>
            </a:r>
          </a:p>
          <a:p>
            <a:r>
              <a:rPr lang="en-US" altLang="zh-TW" dirty="0"/>
              <a:t>Problem Formulation</a:t>
            </a:r>
          </a:p>
          <a:p>
            <a:r>
              <a:rPr lang="en-US" altLang="zh-TW" dirty="0"/>
              <a:t>Methodology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/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2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180231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Preliminaries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  <a:p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3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580556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882AC4-DAFD-8D35-56FA-05C3811D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Photonic Integrated Circuit</a:t>
            </a:r>
            <a:r>
              <a:rPr kumimoji="1" lang="zh-TW" altLang="en-US" dirty="0"/>
              <a:t> </a:t>
            </a:r>
            <a:r>
              <a:rPr kumimoji="1" lang="en-US" altLang="zh-TW" dirty="0"/>
              <a:t>(PIC)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BCD1BF-800B-FB3C-D46E-DA97CA55DC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Large-scale integration of thousands of components for high-bandwidth demands</a:t>
            </a:r>
          </a:p>
          <a:p>
            <a:endParaRPr lang="en" altLang="zh-TW" dirty="0">
              <a:solidFill>
                <a:srgbClr val="000000"/>
              </a:solidFill>
            </a:endParaRPr>
          </a:p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Stringent physical constraints on </a:t>
            </a:r>
            <a:r>
              <a:rPr lang="en" altLang="zh-TW" dirty="0">
                <a:solidFill>
                  <a:srgbClr val="000000"/>
                </a:solidFill>
              </a:rPr>
              <a:t>si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ngle-layer routing and minimum bend radii</a:t>
            </a:r>
          </a:p>
          <a:p>
            <a:endParaRPr lang="en-US" altLang="zh-TW" dirty="0">
              <a:solidFill>
                <a:srgbClr val="000000"/>
              </a:solidFill>
            </a:endParaRPr>
          </a:p>
          <a:p>
            <a:r>
              <a:rPr lang="en" altLang="zh-TW" b="0" i="0" u="none" strike="noStrike" dirty="0">
                <a:solidFill>
                  <a:srgbClr val="000000"/>
                </a:solidFill>
                <a:effectLst/>
              </a:rPr>
              <a:t>Routing-informed placement is essential to: 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</a:rPr>
              <a:t>Maximize </a:t>
            </a:r>
            <a:r>
              <a:rPr lang="en" altLang="zh-TW" dirty="0" err="1">
                <a:solidFill>
                  <a:schemeClr val="tx2">
                    <a:lumMod val="75000"/>
                  </a:schemeClr>
                </a:solidFill>
              </a:rPr>
              <a:t>routability</a:t>
            </a:r>
            <a:endParaRPr lang="en" altLang="zh-TW" dirty="0">
              <a:solidFill>
                <a:schemeClr val="tx2">
                  <a:lumMod val="75000"/>
                </a:schemeClr>
              </a:solidFill>
            </a:endParaRP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</a:rPr>
              <a:t>Maintain signal integrity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</a:rPr>
              <a:t>Enable scalability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9DE9B5-4F81-EA15-D71E-28CCFBA5D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9C44CE8-3714-893B-B5E4-411A3E123E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4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96158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E1727A3-182A-4A36-8190-50ADCCB77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Previous Work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AB04E8-577A-4F2D-8A26-49088AA03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Force-directed placement for photonic circuits </a:t>
            </a:r>
            <a:r>
              <a:rPr lang="en" altLang="zh-TW" sz="1800" i="0" u="none" strike="noStrike" dirty="0">
                <a:solidFill>
                  <a:srgbClr val="000000"/>
                </a:solidFill>
                <a:effectLst/>
              </a:rPr>
              <a:t>[von </a:t>
            </a:r>
            <a:r>
              <a:rPr lang="en" altLang="zh-TW" sz="1800" i="0" u="none" strike="noStrike" dirty="0" err="1">
                <a:solidFill>
                  <a:srgbClr val="000000"/>
                </a:solidFill>
                <a:effectLst/>
              </a:rPr>
              <a:t>Beuningen</a:t>
            </a:r>
            <a:r>
              <a:rPr lang="en" altLang="zh-TW" sz="1800" i="0" u="none" strike="noStrike" dirty="0">
                <a:solidFill>
                  <a:srgbClr val="000000"/>
                </a:solidFill>
                <a:effectLst/>
              </a:rPr>
              <a:t> et al., ISPD’16]</a:t>
            </a:r>
            <a:endParaRPr lang="en" altLang="zh-TW" dirty="0">
              <a:solidFill>
                <a:srgbClr val="000000"/>
              </a:solidFill>
            </a:endParaRPr>
          </a:p>
          <a:p>
            <a:endParaRPr lang="en" altLang="zh-TW" dirty="0">
              <a:solidFill>
                <a:srgbClr val="000000"/>
              </a:solidFill>
            </a:endParaRPr>
          </a:p>
          <a:p>
            <a:r>
              <a:rPr lang="en" altLang="zh-TW" dirty="0" err="1">
                <a:solidFill>
                  <a:srgbClr val="000000"/>
                </a:solidFill>
              </a:rPr>
              <a:t>DREAMPlace</a:t>
            </a:r>
            <a:r>
              <a:rPr lang="en" altLang="zh-TW" dirty="0">
                <a:solidFill>
                  <a:srgbClr val="000000"/>
                </a:solidFill>
              </a:rPr>
              <a:t> G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PU-accelerated analytical placement frameworks </a:t>
            </a:r>
            <a:r>
              <a:rPr lang="en" altLang="zh-TW" sz="1800" i="0" u="none" strike="noStrike" dirty="0">
                <a:solidFill>
                  <a:srgbClr val="000000"/>
                </a:solidFill>
                <a:effectLst/>
              </a:rPr>
              <a:t>[Lin et al., TCAD’20]</a:t>
            </a:r>
          </a:p>
          <a:p>
            <a:endParaRPr lang="en" altLang="zh-TW" sz="1800" dirty="0">
              <a:solidFill>
                <a:srgbClr val="000000"/>
              </a:solidFill>
            </a:endParaRPr>
          </a:p>
          <a:p>
            <a:r>
              <a:rPr lang="en" altLang="zh-TW" dirty="0">
                <a:solidFill>
                  <a:srgbClr val="000000"/>
                </a:solidFill>
              </a:rPr>
              <a:t>Electrostatics-based density model in </a:t>
            </a:r>
            <a:r>
              <a:rPr lang="en" altLang="zh-TW" dirty="0" err="1">
                <a:solidFill>
                  <a:srgbClr val="000000"/>
                </a:solidFill>
              </a:rPr>
              <a:t>ePlace</a:t>
            </a:r>
            <a:r>
              <a:rPr lang="en" altLang="zh-TW" dirty="0">
                <a:solidFill>
                  <a:srgbClr val="000000"/>
                </a:solidFill>
              </a:rPr>
              <a:t> </a:t>
            </a:r>
            <a:r>
              <a:rPr lang="en" altLang="zh-TW" sz="1800" b="0" i="0" u="none" strike="noStrike" dirty="0">
                <a:solidFill>
                  <a:srgbClr val="000000"/>
                </a:solidFill>
                <a:effectLst/>
              </a:rPr>
              <a:t>[Lu et al., TODAES’15]</a:t>
            </a:r>
            <a:endParaRPr lang="en" altLang="zh-TW" dirty="0">
              <a:solidFill>
                <a:srgbClr val="000000"/>
              </a:solidFill>
            </a:endParaRPr>
          </a:p>
          <a:p>
            <a:endParaRPr lang="en" altLang="zh-TW" dirty="0">
              <a:solidFill>
                <a:srgbClr val="000000"/>
              </a:solidFill>
            </a:endParaRPr>
          </a:p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LiDAR automated curvy waveguide routing </a:t>
            </a:r>
            <a:r>
              <a:rPr lang="en" altLang="zh-TW" sz="1800" i="0" u="none" strike="noStrike" dirty="0">
                <a:solidFill>
                  <a:srgbClr val="000000"/>
                </a:solidFill>
                <a:effectLst/>
              </a:rPr>
              <a:t>[Zhou et al., ISPD’25]</a:t>
            </a:r>
          </a:p>
          <a:p>
            <a:endParaRPr lang="en" altLang="zh-TW" dirty="0">
              <a:solidFill>
                <a:srgbClr val="00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406BBFE-597C-4E9E-BAD2-2988E5DE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 dirty="0"/>
              <a:t> GIEE.NTU</a:t>
            </a:r>
            <a:endParaRPr lang="zh-Hant" altLang="zh-Hant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886FEE-41B8-4005-A611-3A337D300F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5</a:t>
            </a:fld>
            <a:endParaRPr lang="en-US" altLang="zh-Hant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4E6EFC9-B7E2-9FF4-859A-1E1A7110D368}"/>
              </a:ext>
            </a:extLst>
          </p:cNvPr>
          <p:cNvSpPr txBox="1"/>
          <p:nvPr/>
        </p:nvSpPr>
        <p:spPr>
          <a:xfrm>
            <a:off x="1073272" y="5589240"/>
            <a:ext cx="87671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[Lin et al., TCAD’20] Y. Lin et al., "</a:t>
            </a:r>
            <a:r>
              <a:rPr lang="en" altLang="zh-TW" sz="1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DREAMPlace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: Deep Learning Toolkit-Enabled GPU Acceleration for Modern VLSI Placement," </a:t>
            </a:r>
            <a:r>
              <a:rPr lang="en" altLang="zh-TW" sz="1000" b="0" i="1" u="none" strike="noStrike" dirty="0">
                <a:solidFill>
                  <a:srgbClr val="000000"/>
                </a:solidFill>
                <a:effectLst/>
                <a:latin typeface="+mn-lt"/>
              </a:rPr>
              <a:t>IEEE TCAD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, 2020. </a:t>
            </a:r>
          </a:p>
          <a:p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[Lu et al., TODAES’15] J. Lu et al., "</a:t>
            </a:r>
            <a:r>
              <a:rPr lang="en" altLang="zh-TW" sz="1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ePlace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: Electrostatics-based placement using fast Fourier transform and </a:t>
            </a:r>
            <a:r>
              <a:rPr lang="en" altLang="zh-TW" sz="1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Nesterov's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 method," </a:t>
            </a:r>
            <a:r>
              <a:rPr lang="en" altLang="zh-TW" sz="1000" b="0" i="1" u="none" strike="noStrike" dirty="0">
                <a:solidFill>
                  <a:srgbClr val="000000"/>
                </a:solidFill>
                <a:effectLst/>
                <a:latin typeface="+mn-lt"/>
              </a:rPr>
              <a:t>ACM TODAES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, 2015. </a:t>
            </a:r>
          </a:p>
          <a:p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[Zhou et al., ISPD’25] H. Zhou et al., "LiDAR: Automated Curvy Waveguide Detailed Routing for Large-Scale Photonic Integrated Circuits," </a:t>
            </a:r>
            <a:r>
              <a:rPr lang="en" altLang="zh-TW" sz="1000" b="0" i="1" u="none" strike="noStrike" dirty="0">
                <a:solidFill>
                  <a:srgbClr val="000000"/>
                </a:solidFill>
                <a:effectLst/>
                <a:latin typeface="+mn-lt"/>
              </a:rPr>
              <a:t>ISPD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, 2025. </a:t>
            </a:r>
          </a:p>
          <a:p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[von </a:t>
            </a:r>
            <a:r>
              <a:rPr lang="en" altLang="zh-TW" sz="1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Beuningen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 et al., ISPD’16] A. von </a:t>
            </a:r>
            <a:r>
              <a:rPr lang="en" altLang="zh-TW" sz="1000" b="0" i="0" u="none" strike="noStrike" dirty="0" err="1">
                <a:solidFill>
                  <a:srgbClr val="000000"/>
                </a:solidFill>
                <a:effectLst/>
                <a:latin typeface="+mn-lt"/>
              </a:rPr>
              <a:t>Beuningen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 et al., "PLATON: A force-directed placement algorithm for 3D optical networks-on-chip," </a:t>
            </a:r>
            <a:r>
              <a:rPr lang="en" altLang="zh-TW" sz="1000" b="0" i="1" u="none" strike="noStrike" dirty="0">
                <a:solidFill>
                  <a:srgbClr val="000000"/>
                </a:solidFill>
                <a:effectLst/>
                <a:latin typeface="+mn-lt"/>
              </a:rPr>
              <a:t>ISPD</a:t>
            </a:r>
            <a:r>
              <a:rPr lang="en" altLang="zh-TW" sz="1000" b="0" i="0" u="none" strike="noStrike" dirty="0">
                <a:solidFill>
                  <a:srgbClr val="000000"/>
                </a:solidFill>
                <a:effectLst/>
                <a:latin typeface="+mn-lt"/>
              </a:rPr>
              <a:t>, 2016.</a:t>
            </a:r>
            <a:endParaRPr kumimoji="1" lang="zh-TW" altLang="en-US" sz="1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143514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EEBFB5-85B3-463E-BA45-3A700F9F8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Contribution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0995695-1FD0-4B6B-BD41-E09EB3A8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Propose the first GPU-accelerated analytical placement framework for routing-informed PIC synthesis</a:t>
            </a:r>
          </a:p>
          <a:p>
            <a:r>
              <a:rPr lang="en" altLang="zh-TW" dirty="0"/>
              <a:t>Propose novel physical models to implicitly account for port orientation, bending radii, and waveguide crossings</a:t>
            </a:r>
          </a:p>
          <a:p>
            <a:r>
              <a:rPr lang="en" altLang="zh-TW" b="0" i="0" u="none" strike="noStrike" dirty="0">
                <a:solidFill>
                  <a:srgbClr val="000000"/>
                </a:solidFill>
                <a:effectLst/>
              </a:rPr>
              <a:t>Enhance optimization stability and constraint satisfaction, achieving 9</a:t>
            </a:r>
            <a:r>
              <a:rPr lang="en-US" altLang="zh-TW" b="0" i="0" u="none" strike="noStrike" dirty="0">
                <a:solidFill>
                  <a:srgbClr val="000000"/>
                </a:solidFill>
                <a:effectLst/>
              </a:rPr>
              <a:t>4.</a:t>
            </a:r>
            <a:r>
              <a:rPr lang="en-US" altLang="zh-TW" dirty="0">
                <a:solidFill>
                  <a:srgbClr val="000000"/>
                </a:solidFill>
              </a:rPr>
              <a:t>7</a:t>
            </a:r>
            <a:r>
              <a:rPr lang="en" altLang="zh-TW" b="0" i="0" u="none" strike="noStrike" dirty="0">
                <a:solidFill>
                  <a:srgbClr val="000000"/>
                </a:solidFill>
                <a:effectLst/>
              </a:rPr>
              <a:t>% </a:t>
            </a:r>
            <a:r>
              <a:rPr lang="en" altLang="zh-TW" b="0" i="0" u="none" strike="noStrike" dirty="0" err="1">
                <a:solidFill>
                  <a:srgbClr val="000000"/>
                </a:solidFill>
                <a:effectLst/>
              </a:rPr>
              <a:t>routability</a:t>
            </a:r>
            <a:endParaRPr lang="en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928AC63-FA66-46B5-B15D-E44FF302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23E31E3-902A-409B-8989-DC33EDEF3D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6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870EAF4-36B5-A0E0-5C98-9CA0D2232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436" y="3756174"/>
            <a:ext cx="9411489" cy="211122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9651A44A-4BE5-87A0-CBF7-58AE0A4860DC}"/>
              </a:ext>
            </a:extLst>
          </p:cNvPr>
          <p:cNvSpPr txBox="1"/>
          <p:nvPr/>
        </p:nvSpPr>
        <p:spPr>
          <a:xfrm>
            <a:off x="3323692" y="5820307"/>
            <a:ext cx="59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dirty="0">
                <a:solidFill>
                  <a:srgbClr val="000000"/>
                </a:solidFill>
                <a:latin typeface="Helvetica" pitchFamily="2" charset="0"/>
              </a:rPr>
              <a:t>P</a:t>
            </a:r>
            <a:r>
              <a:rPr lang="en" altLang="zh-TW" dirty="0">
                <a:solidFill>
                  <a:srgbClr val="000000"/>
                </a:solidFill>
                <a:effectLst/>
                <a:latin typeface="Helvetica" pitchFamily="2" charset="0"/>
              </a:rPr>
              <a:t>lacement animation of Apollo on ADEPT_16x16</a:t>
            </a:r>
          </a:p>
          <a:p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73430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/>
              <a:t>Preliminaries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  <a:p>
            <a:endParaRPr lang="zh-TW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7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2337213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A0C8A-175D-F850-DA15-2070D31F3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Analytical Mixed-Size Photonic Circuit Placement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F65E226-A857-A2BA-7031-7D26056E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Electrostatics-based global placement via </a:t>
            </a:r>
            <a:r>
              <a:rPr lang="en" altLang="zh-TW" dirty="0" err="1"/>
              <a:t>ePlace</a:t>
            </a:r>
            <a:r>
              <a:rPr lang="en" altLang="zh-TW" dirty="0"/>
              <a:t> density modeling</a:t>
            </a:r>
          </a:p>
          <a:p>
            <a:r>
              <a:rPr lang="en" altLang="zh-TW" dirty="0"/>
              <a:t>Routing-aware constraint satisfaction for bend and crossing overhead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ACCFC2-B904-8EEA-1630-F85C2912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FD9DF99-9766-A2CF-7626-FE2C2ECBE5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8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D06D1B2-EEB1-6DA5-01C1-6F2437CD41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161"/>
          <a:stretch/>
        </p:blipFill>
        <p:spPr>
          <a:xfrm>
            <a:off x="3107669" y="2113528"/>
            <a:ext cx="5652628" cy="398520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AAB9CA96-2227-F879-E962-176FADF0A2B0}"/>
              </a:ext>
            </a:extLst>
          </p:cNvPr>
          <p:cNvSpPr txBox="1"/>
          <p:nvPr/>
        </p:nvSpPr>
        <p:spPr>
          <a:xfrm>
            <a:off x="3041318" y="6165939"/>
            <a:ext cx="59154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TW" sz="1400" b="0" i="0" u="none" strike="noStrike" dirty="0">
                <a:solidFill>
                  <a:srgbClr val="000000"/>
                </a:solidFill>
                <a:effectLst/>
                <a:latin typeface="+mn-lt"/>
              </a:rPr>
              <a:t>Electrostatic potential field used for smooth density gradient optimization</a:t>
            </a:r>
            <a:endParaRPr kumimoji="1" lang="zh-TW" altLang="en-US" sz="1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18252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Preliminaries</a:t>
            </a:r>
          </a:p>
          <a:p>
            <a:r>
              <a:rPr lang="en-US" altLang="zh-TW" dirty="0"/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9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563659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30FED7-358C-4520-BFB7-3486587A1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Problem Formulation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C8AAE67-046B-4C10-9B42-602CD5056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Given</a:t>
            </a:r>
          </a:p>
          <a:p>
            <a:pPr lvl="1"/>
            <a:r>
              <a:rPr lang="en-US" altLang="zh-TW" dirty="0"/>
              <a:t>Netlist, components, and port orientation</a:t>
            </a:r>
          </a:p>
          <a:p>
            <a:pPr lvl="1"/>
            <a:r>
              <a:rPr lang="en-US" altLang="zh-TW" dirty="0"/>
              <a:t>Minimum bend radii</a:t>
            </a:r>
          </a:p>
          <a:p>
            <a:r>
              <a:rPr lang="en-US" altLang="zh-TW" dirty="0"/>
              <a:t>Output</a:t>
            </a:r>
          </a:p>
          <a:p>
            <a:pPr lvl="1"/>
            <a:r>
              <a:rPr lang="en" altLang="zh-TW" dirty="0"/>
              <a:t>Overlap-free layout compliant with all designer constraints</a:t>
            </a:r>
          </a:p>
          <a:p>
            <a:r>
              <a:rPr lang="en-US" altLang="zh-TW" dirty="0"/>
              <a:t>Objective</a:t>
            </a:r>
          </a:p>
          <a:p>
            <a:pPr lvl="1"/>
            <a:r>
              <a:rPr lang="en" altLang="zh-TW" dirty="0"/>
              <a:t>Minimize total waveguide loss, waveguide crossings, and runtime</a:t>
            </a:r>
          </a:p>
          <a:p>
            <a:pPr lvl="1"/>
            <a:r>
              <a:rPr lang="en" altLang="zh-TW" dirty="0"/>
              <a:t>Maximize </a:t>
            </a:r>
            <a:r>
              <a:rPr lang="en" altLang="zh-TW" dirty="0" err="1"/>
              <a:t>routability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B78EBE5-9882-48FB-AC82-7730E6A9F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60F4FC-0611-4F00-A1D2-D0B0B9BA16E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10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69552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Preliminaries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/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11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526679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2B7C85-908C-4457-8E68-F1A9758E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>
                <a:latin typeface="+mn-lt"/>
              </a:rPr>
              <a:t>Photonic-Specific Placement Objective</a:t>
            </a:r>
            <a:endParaRPr kumimoji="1" lang="zh-TW" altLang="en-US" dirty="0">
              <a:latin typeface="+mn-lt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B8D09DB-1368-53A3-DD6D-67871E0C2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Propose asymmetric bending-aware wirelength (</a:t>
            </a:r>
            <a:r>
              <a:rPr lang="en" altLang="zh-TW" i="0" u="none" strike="noStrike" dirty="0" err="1">
                <a:solidFill>
                  <a:srgbClr val="000000"/>
                </a:solidFill>
                <a:effectLst/>
              </a:rPr>
              <a:t>cosWA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) to penalize port misalignment</a:t>
            </a:r>
            <a:endParaRPr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Propose a routing-informed spacing model (NS)</a:t>
            </a:r>
          </a:p>
          <a:p>
            <a:pPr marL="0" indent="0">
              <a:buNone/>
            </a:pPr>
            <a:r>
              <a:rPr lang="zh-TW" altLang="en-US" dirty="0">
                <a:solidFill>
                  <a:srgbClr val="000000"/>
                </a:solidFill>
              </a:rPr>
              <a:t>    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to pre-reserve layout area for congestion</a:t>
            </a:r>
            <a:endParaRPr kumimoji="1"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Formulate a </a:t>
            </a:r>
            <a:r>
              <a:rPr lang="en" altLang="zh-TW" i="0" u="none" strike="noStrike" dirty="0" err="1">
                <a:solidFill>
                  <a:srgbClr val="000000"/>
                </a:solidFill>
                <a:effectLst/>
              </a:rPr>
              <a:t>quardratic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 density function to achieve </a:t>
            </a:r>
          </a:p>
          <a:p>
            <a:pPr marL="0" indent="0">
              <a:buNone/>
            </a:pPr>
            <a:r>
              <a:rPr lang="zh-TW" altLang="en-US" dirty="0">
                <a:solidFill>
                  <a:srgbClr val="000000"/>
                </a:solidFill>
              </a:rPr>
              <a:t>    </a:t>
            </a:r>
            <a:r>
              <a:rPr lang="en" altLang="zh-TW" i="0" u="none" strike="noStrike" dirty="0">
                <a:solidFill>
                  <a:srgbClr val="000000"/>
                </a:solidFill>
                <a:effectLst/>
              </a:rPr>
              <a:t>smooth overlap-free distribution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48C6D2C-2822-9F8A-C1B9-1D3D7362A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594297-69F6-8D20-01C6-52335EF93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12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57251B1-E09E-9AE2-C994-49B50491EF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620" b="43190"/>
          <a:stretch/>
        </p:blipFill>
        <p:spPr>
          <a:xfrm>
            <a:off x="1254353" y="1808820"/>
            <a:ext cx="6933051" cy="158417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F16BC74-E2A1-4775-CF52-46BABA28483B}"/>
                  </a:ext>
                </a:extLst>
              </p:cNvPr>
              <p:cNvSpPr txBox="1"/>
              <p:nvPr/>
            </p:nvSpPr>
            <p:spPr>
              <a:xfrm>
                <a:off x="8134656" y="3807038"/>
                <a:ext cx="3504036" cy="286232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altLang="zh-TW" sz="20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" altLang="zh-TW" sz="2000" dirty="0">
                    <a:latin typeface="+mn-lt"/>
                  </a:rPr>
                  <a:t>Bending penalty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altLang="zh-TW" sz="20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>
                    <a:solidFill>
                      <a:srgbClr val="000000"/>
                    </a:solidFill>
                    <a:latin typeface="+mn-lt"/>
                  </a:rPr>
                  <a:t> Threshold constant</a:t>
                </a:r>
                <a:endParaRPr lang="en-US" altLang="zh-TW" sz="2000" u="none" strike="noStrike" dirty="0">
                  <a:solidFill>
                    <a:srgbClr val="000000"/>
                  </a:solidFill>
                  <a:effectLst/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TW" sz="2000" i="1" u="none" strike="noStrike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sz="2000" b="0" i="1" u="none" strike="noStrike" smtClean="0"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.</m:t>
                            </m:r>
                          </m:e>
                        </m:d>
                      </m:e>
                      <m:sub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en" altLang="zh-TW" sz="2000" i="0" u="none" strike="noStrike" dirty="0">
                    <a:solidFill>
                      <a:srgbClr val="000000"/>
                    </a:solidFill>
                    <a:effectLst/>
                    <a:latin typeface="+mn-lt"/>
                  </a:rPr>
                  <a:t>​: </a:t>
                </a:r>
                <a:r>
                  <a:rPr lang="en" altLang="zh-TW" sz="2000" i="0" u="none" strike="noStrike" dirty="0" err="1">
                    <a:solidFill>
                      <a:srgbClr val="000000"/>
                    </a:solidFill>
                    <a:effectLst/>
                    <a:latin typeface="+mn-lt"/>
                  </a:rPr>
                  <a:t>ReLU</a:t>
                </a:r>
                <a:r>
                  <a:rPr lang="en" altLang="zh-TW" sz="2000" i="0" u="none" strike="noStrike" dirty="0">
                    <a:solidFill>
                      <a:srgbClr val="000000"/>
                    </a:solidFill>
                    <a:effectLst/>
                    <a:latin typeface="+mn-lt"/>
                  </a:rPr>
                  <a:t> function</a:t>
                </a:r>
                <a:endParaRPr lang="en-US" altLang="zh-TW" sz="2000" i="1" u="none" strike="noStrike" dirty="0">
                  <a:solidFill>
                    <a:srgbClr val="000000"/>
                  </a:solidFill>
                  <a:effectLst/>
                  <a:latin typeface="+mn-lt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" altLang="zh-TW" sz="2000" i="0" u="none" strike="noStrike" dirty="0">
                    <a:solidFill>
                      <a:srgbClr val="000000"/>
                    </a:solidFill>
                    <a:effectLst/>
                    <a:latin typeface="+mn-lt"/>
                  </a:rPr>
                  <a:t>​ Required spacing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𝑑𝑦</m:t>
                    </m:r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" altLang="zh-TW" sz="2000" i="0" u="none" strike="noStrike" dirty="0">
                    <a:solidFill>
                      <a:srgbClr val="000000"/>
                    </a:solidFill>
                    <a:effectLst/>
                    <a:latin typeface="+mn-lt"/>
                  </a:rPr>
                  <a:t> Relative displacement</a:t>
                </a:r>
                <a:endParaRPr lang="en" altLang="zh-TW" sz="2000" dirty="0">
                  <a:solidFill>
                    <a:srgbClr val="000000"/>
                  </a:solidFill>
                  <a:latin typeface="+mn-lt"/>
                </a:endParaRPr>
              </a:p>
              <a:p>
                <a14:m>
                  <m:oMath xmlns:m="http://schemas.openxmlformats.org/officeDocument/2006/math"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TW" sz="2000" b="0" i="1" u="none" strike="noStrike" smtClean="0">
                            <a:solidFill>
                              <a:srgbClr val="00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altLang="zh-TW" sz="2000" b="0" i="1" u="none" strike="noStrike" smtClean="0">
                        <a:solidFill>
                          <a:srgbClr val="000000"/>
                        </a:solidFill>
                        <a:effectLst/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" altLang="zh-TW" sz="2000" i="0" u="none" strike="noStrike" dirty="0">
                    <a:solidFill>
                      <a:srgbClr val="000000"/>
                    </a:solidFill>
                    <a:effectLst/>
                    <a:latin typeface="+mn-lt"/>
                  </a:rPr>
                  <a:t> Potential density field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altLang="zh-TW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altLang="zh-TW" sz="2000" b="0" dirty="0">
                    <a:latin typeface="+mn-lt"/>
                    <a:ea typeface="Cambria Math" panose="02040503050406030204" pitchFamily="18" charset="0"/>
                  </a:rPr>
                  <a:t>Density</a:t>
                </a:r>
                <a:r>
                  <a:rPr lang="en-US" altLang="zh-TW" sz="2000" b="0" i="1" dirty="0">
                    <a:latin typeface="+mn-lt"/>
                    <a:ea typeface="Cambria Math" panose="02040503050406030204" pitchFamily="18" charset="0"/>
                  </a:rPr>
                  <a:t> Weight</a:t>
                </a:r>
              </a:p>
              <a:p>
                <a14:m>
                  <m:oMath xmlns:m="http://schemas.openxmlformats.org/officeDocument/2006/math"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altLang="zh-TW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altLang="zh-TW" sz="2000" dirty="0">
                    <a:latin typeface="+mn-lt"/>
                  </a:rPr>
                  <a:t> Penalty coefficient</a:t>
                </a:r>
              </a:p>
              <a:p>
                <a:endParaRPr lang="en-US" altLang="zh-TW" sz="2000" dirty="0">
                  <a:latin typeface="+mn-lt"/>
                </a:endParaRPr>
              </a:p>
            </p:txBody>
          </p:sp>
        </mc:Choice>
        <mc:Fallback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FF16BC74-E2A1-4775-CF52-46BABA2848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4656" y="3807038"/>
                <a:ext cx="3504036" cy="2862322"/>
              </a:xfrm>
              <a:prstGeom prst="rect">
                <a:avLst/>
              </a:prstGeom>
              <a:blipFill>
                <a:blip r:embed="rId4"/>
                <a:stretch>
                  <a:fillRect t="-1327" r="-180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圖片 7">
            <a:extLst>
              <a:ext uri="{FF2B5EF4-FFF2-40B4-BE49-F238E27FC236}">
                <a16:creationId xmlns:a16="http://schemas.microsoft.com/office/drawing/2014/main" id="{6A1A1866-34D0-34CF-7E4A-325E3F56CA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06463" y="4401108"/>
            <a:ext cx="5958662" cy="468052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0C9A97AC-29A5-D338-8326-950FACA3E6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13304" y="5820314"/>
            <a:ext cx="4582696" cy="705030"/>
          </a:xfrm>
          <a:prstGeom prst="rect">
            <a:avLst/>
          </a:prstGeom>
        </p:spPr>
      </p:pic>
      <p:grpSp>
        <p:nvGrpSpPr>
          <p:cNvPr id="15" name="群組 14">
            <a:extLst>
              <a:ext uri="{FF2B5EF4-FFF2-40B4-BE49-F238E27FC236}">
                <a16:creationId xmlns:a16="http://schemas.microsoft.com/office/drawing/2014/main" id="{94DA0BFE-8398-F1C7-F369-F9278886570E}"/>
              </a:ext>
            </a:extLst>
          </p:cNvPr>
          <p:cNvGrpSpPr/>
          <p:nvPr/>
        </p:nvGrpSpPr>
        <p:grpSpPr>
          <a:xfrm>
            <a:off x="7961352" y="1789261"/>
            <a:ext cx="3621048" cy="1695302"/>
            <a:chOff x="8003144" y="1678721"/>
            <a:chExt cx="3621048" cy="1695302"/>
          </a:xfrm>
        </p:grpSpPr>
        <p:pic>
          <p:nvPicPr>
            <p:cNvPr id="10" name="圖片 9">
              <a:extLst>
                <a:ext uri="{FF2B5EF4-FFF2-40B4-BE49-F238E27FC236}">
                  <a16:creationId xmlns:a16="http://schemas.microsoft.com/office/drawing/2014/main" id="{11F16FF0-DF44-B896-8E61-8ADC35DE5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8003144" y="1678721"/>
              <a:ext cx="3621048" cy="1395900"/>
            </a:xfrm>
            <a:prstGeom prst="rect">
              <a:avLst/>
            </a:prstGeom>
          </p:spPr>
        </p:pic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7D2E26B9-5C5A-EFAA-4DF4-63DAA7F96872}"/>
                </a:ext>
              </a:extLst>
            </p:cNvPr>
            <p:cNvSpPr txBox="1"/>
            <p:nvPr/>
          </p:nvSpPr>
          <p:spPr>
            <a:xfrm>
              <a:off x="8229196" y="3035469"/>
              <a:ext cx="316894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TW" sz="1600" dirty="0"/>
                <a:t>Wirelength cost in different angle</a:t>
              </a:r>
              <a:endParaRPr kumimoji="1" lang="zh-TW" alt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865404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D438ED6-57FA-04B8-96C9-19C50F6A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>
                <a:latin typeface="+mn-lt"/>
              </a:rPr>
              <a:t>C</a:t>
            </a:r>
            <a:r>
              <a:rPr lang="en" altLang="zh-TW" dirty="0">
                <a:effectLst/>
                <a:latin typeface="+mn-lt"/>
              </a:rPr>
              <a:t>onditional </a:t>
            </a:r>
            <a:r>
              <a:rPr lang="en" altLang="zh-TW" dirty="0">
                <a:latin typeface="+mn-lt"/>
              </a:rPr>
              <a:t>P</a:t>
            </a:r>
            <a:r>
              <a:rPr lang="en" altLang="zh-TW" dirty="0">
                <a:effectLst/>
                <a:latin typeface="+mn-lt"/>
              </a:rPr>
              <a:t>rojected </a:t>
            </a:r>
            <a:r>
              <a:rPr lang="en" altLang="zh-TW" dirty="0">
                <a:latin typeface="+mn-lt"/>
              </a:rPr>
              <a:t>G</a:t>
            </a:r>
            <a:r>
              <a:rPr lang="en" altLang="zh-TW" dirty="0">
                <a:effectLst/>
                <a:latin typeface="+mn-lt"/>
              </a:rPr>
              <a:t>radient </a:t>
            </a:r>
            <a:r>
              <a:rPr lang="en" altLang="zh-TW" dirty="0">
                <a:latin typeface="+mn-lt"/>
              </a:rPr>
              <a:t>D</a:t>
            </a:r>
            <a:r>
              <a:rPr lang="en" altLang="zh-TW" dirty="0">
                <a:effectLst/>
                <a:latin typeface="+mn-lt"/>
              </a:rPr>
              <a:t>escent (CPGD)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2A77F16-46E5-532A-E343-AF3F442E4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i="0" u="none" strike="noStrike" dirty="0">
                <a:effectLst/>
              </a:rPr>
              <a:t>Project components toward target locations (e.g., group centroids) to satisfy regularity constraints</a:t>
            </a:r>
            <a:endParaRPr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lang="en" altLang="zh-TW" i="0" u="none" strike="noStrike" dirty="0">
                <a:effectLst/>
              </a:rPr>
              <a:t>Apply a progressive sharpness schedule to balance </a:t>
            </a:r>
          </a:p>
          <a:p>
            <a:pPr marL="0" indent="0">
              <a:buNone/>
            </a:pPr>
            <a:r>
              <a:rPr lang="zh-TW" altLang="en-US" i="0" u="none" strike="noStrike" dirty="0">
                <a:effectLst/>
              </a:rPr>
              <a:t>    </a:t>
            </a:r>
            <a:r>
              <a:rPr lang="en" altLang="zh-TW" i="0" u="none" strike="noStrike" dirty="0">
                <a:effectLst/>
              </a:rPr>
              <a:t>global optimization and constraint enforcement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" altLang="zh-TW" i="0" u="none" strike="noStrike" dirty="0">
              <a:effectLst/>
            </a:endParaRPr>
          </a:p>
          <a:p>
            <a:r>
              <a:rPr lang="en" altLang="zh-TW" i="0" u="none" strike="noStrike" dirty="0">
                <a:effectLst/>
              </a:rPr>
              <a:t>Incorporate cell inflation to mitigate thermal crosstalk and secure routing corridors</a:t>
            </a:r>
            <a:endParaRPr kumimoji="1" lang="en-US" altLang="zh-TW" dirty="0"/>
          </a:p>
          <a:p>
            <a:pPr lvl="1"/>
            <a:endParaRPr lang="en-US" altLang="zh-TW" sz="2400" dirty="0">
              <a:solidFill>
                <a:schemeClr val="tx1"/>
              </a:solidFill>
            </a:endParaRPr>
          </a:p>
          <a:p>
            <a:pPr lvl="1"/>
            <a:endParaRPr kumimoji="1" lang="en-US" altLang="zh-TW" sz="2400" dirty="0">
              <a:solidFill>
                <a:schemeClr val="tx1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F98541-787D-5B04-551C-D86D7CB96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C65741-7816-DE16-9314-DEDC1C62B1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13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D355232-0D77-DC91-8932-73C39923B7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141" b="8000"/>
          <a:stretch/>
        </p:blipFill>
        <p:spPr>
          <a:xfrm>
            <a:off x="1595500" y="1939341"/>
            <a:ext cx="4251667" cy="54006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E7465E1-1214-7574-7F72-DC0BF06789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9516" y="3632709"/>
            <a:ext cx="5294010" cy="98442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AEC4335-9100-A315-DEB1-5B0491854D4D}"/>
                  </a:ext>
                </a:extLst>
              </p:cNvPr>
              <p:cNvSpPr txBox="1"/>
              <p:nvPr/>
            </p:nvSpPr>
            <p:spPr>
              <a:xfrm>
                <a:off x="8493990" y="2744924"/>
                <a:ext cx="3254638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000" dirty="0"/>
                  <a:t> component coordinate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000" dirty="0"/>
                  <a:t> projected coordinate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000" dirty="0"/>
                  <a:t> </a:t>
                </a:r>
                <a:r>
                  <a:rPr lang="en-US" altLang="zh-TW" sz="2000" dirty="0"/>
                  <a:t>i</a:t>
                </a:r>
                <a:r>
                  <a:rPr kumimoji="1" lang="en-US" altLang="zh-TW" sz="2000" dirty="0"/>
                  <a:t>nitial sharpness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kumimoji="1" lang="en-US" altLang="zh-TW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sz="2000" dirty="0"/>
                  <a:t> final sharpness</a:t>
                </a:r>
              </a:p>
              <a:p>
                <a14:m>
                  <m:oMath xmlns:m="http://schemas.openxmlformats.org/officeDocument/2006/math"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kumimoji="1" lang="en-US" altLang="zh-TW" sz="2000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kumimoji="1" lang="en-US" altLang="zh-TW" sz="2000" dirty="0"/>
                  <a:t>iteration</a:t>
                </a:r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AAEC4335-9100-A315-DEB1-5B0491854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990" y="2744924"/>
                <a:ext cx="3254638" cy="1631216"/>
              </a:xfrm>
              <a:prstGeom prst="rect">
                <a:avLst/>
              </a:prstGeom>
              <a:blipFill>
                <a:blip r:embed="rId5"/>
                <a:stretch>
                  <a:fillRect t="-2326" b="-5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52581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D254775-C683-1788-E233-8135E341D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i="0" u="none" strike="noStrike" dirty="0" err="1">
                <a:effectLst/>
                <a:latin typeface="+mn-lt"/>
              </a:rPr>
              <a:t>Blockwise</a:t>
            </a:r>
            <a:r>
              <a:rPr lang="en" altLang="zh-TW" i="0" u="none" strike="noStrike" dirty="0">
                <a:effectLst/>
                <a:latin typeface="+mn-lt"/>
              </a:rPr>
              <a:t> Adaptive </a:t>
            </a:r>
            <a:r>
              <a:rPr lang="en" altLang="zh-TW" i="0" u="none" strike="noStrike" dirty="0" err="1">
                <a:effectLst/>
                <a:latin typeface="+mn-lt"/>
              </a:rPr>
              <a:t>Nesterov</a:t>
            </a:r>
            <a:r>
              <a:rPr lang="en" altLang="zh-TW" i="0" u="none" strike="noStrike" dirty="0">
                <a:effectLst/>
                <a:latin typeface="+mn-lt"/>
              </a:rPr>
              <a:t>-Accelerated Gradient (BNAG)</a:t>
            </a:r>
            <a:endParaRPr kumimoji="1" lang="zh-TW" altLang="en-US" dirty="0">
              <a:latin typeface="+mn-lt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D06E2A-53A5-688E-1C32-4136EF9340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" altLang="zh-TW" i="0" u="none" strike="noStrike" dirty="0">
                    <a:solidFill>
                      <a:srgbClr val="000000"/>
                    </a:solidFill>
                    <a:effectLst/>
                  </a:rPr>
                  <a:t>Propose a </a:t>
                </a:r>
                <a:r>
                  <a:rPr lang="en" altLang="zh-TW" i="0" u="none" strike="noStrike" dirty="0" err="1">
                    <a:solidFill>
                      <a:srgbClr val="000000"/>
                    </a:solidFill>
                    <a:effectLst/>
                  </a:rPr>
                  <a:t>blockwise</a:t>
                </a:r>
                <a:r>
                  <a:rPr lang="en" altLang="zh-TW" i="0" u="none" strike="noStrike" dirty="0">
                    <a:solidFill>
                      <a:srgbClr val="000000"/>
                    </a:solidFill>
                    <a:effectLst/>
                  </a:rPr>
                  <a:t> adaptive learning rate to stabilize the optimization of mixed-size components</a:t>
                </a:r>
              </a:p>
              <a:p>
                <a:endParaRPr lang="en" altLang="zh-TW" i="0" u="none" strike="noStrike" dirty="0">
                  <a:solidFill>
                    <a:srgbClr val="000000"/>
                  </a:solidFill>
                  <a:effectLst/>
                </a:endParaRPr>
              </a:p>
              <a:p>
                <a:r>
                  <a:rPr lang="en" altLang="zh-TW" dirty="0"/>
                  <a:t>Utilize </a:t>
                </a:r>
                <a:r>
                  <a:rPr lang="en" altLang="zh-TW" dirty="0" err="1"/>
                  <a:t>Nesterov-Accelerat</a:t>
                </a:r>
                <a:r>
                  <a:rPr lang="en-US" altLang="zh-TW" dirty="0"/>
                  <a:t>ed Gradient (NAG)</a:t>
                </a:r>
                <a:r>
                  <a:rPr lang="en" altLang="zh-TW" dirty="0"/>
                  <a:t> to achieve fast and smooth convergence for large-scale PIC placement</a:t>
                </a:r>
              </a:p>
              <a:p>
                <a:pPr lvl="1"/>
                <a:endParaRPr lang="en" altLang="zh-TW" dirty="0"/>
              </a:p>
              <a:p>
                <a:pPr lvl="1"/>
                <a:endParaRPr lang="en" altLang="zh-TW" dirty="0"/>
              </a:p>
              <a:p>
                <a:pPr lvl="1"/>
                <a:endParaRPr lang="en" altLang="zh-TW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dirty="0"/>
                  <a:t> velocity/ momentum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kumimoji="1" lang="en-US" altLang="zh-TW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dirty="0"/>
                  <a:t> </a:t>
                </a:r>
                <a:r>
                  <a:rPr lang="en-US" altLang="zh-TW" dirty="0"/>
                  <a:t>weight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dirty="0"/>
                  <a:t> learning rate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dirty="0"/>
                  <a:t> momentum factor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kumimoji="1" lang="en-US" altLang="zh-TW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kumimoji="1" lang="en-US" altLang="zh-TW" dirty="0"/>
                  <a:t> gradient function</a:t>
                </a:r>
              </a:p>
              <a:p>
                <a:pPr lvl="1"/>
                <a:endParaRPr lang="en" altLang="zh-TW" dirty="0"/>
              </a:p>
              <a:p>
                <a:pPr lvl="1"/>
                <a:endParaRPr lang="en" altLang="zh-TW" dirty="0"/>
              </a:p>
              <a:p>
                <a:pPr marL="457200" lvl="1" indent="0">
                  <a:buNone/>
                </a:pPr>
                <a:endParaRPr lang="en" altLang="zh-TW" dirty="0"/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CD06E2A-53A5-688E-1C32-4136EF9340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15" t="-372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B6FA52-53E3-E0DA-C71F-F5B43D2CB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7465F3-F9AD-7222-CBC4-2C85D0AF78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14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A155CB5-36C4-0B18-7658-8769C10E75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473" y="3032956"/>
            <a:ext cx="4860540" cy="1160475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9FECBE8E-F873-4741-FA56-1F12F1E12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409" y="3197560"/>
            <a:ext cx="5180189" cy="2787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F0EDCB6-D626-D420-F1E9-D93770F360F3}"/>
              </a:ext>
            </a:extLst>
          </p:cNvPr>
          <p:cNvSpPr txBox="1"/>
          <p:nvPr/>
        </p:nvSpPr>
        <p:spPr>
          <a:xfrm>
            <a:off x="7845058" y="5985284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NAG iteration</a:t>
            </a:r>
            <a:r>
              <a:rPr kumimoji="1" lang="zh-TW" altLang="en-US" dirty="0"/>
              <a:t> </a:t>
            </a:r>
            <a:r>
              <a:rPr kumimoji="1" lang="en-US" altLang="zh-TW" dirty="0"/>
              <a:t>process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372697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Preliminaries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/>
              <a:t>Experimental Results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15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881989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B44BC-D654-3C33-EBDD-97432F990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Experimental Setup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4EC16AE-1435-56E5-4344-E84E22781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Machine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  <a:effectLst/>
              </a:rPr>
              <a:t>AMD EPYC</a:t>
            </a:r>
            <a:r>
              <a:rPr lang="zh-TW" altLang="en-US" dirty="0">
                <a:solidFill>
                  <a:schemeClr val="tx2">
                    <a:lumMod val="75000"/>
                  </a:schemeClr>
                </a:solidFill>
                <a:effectLst/>
              </a:rPr>
              <a:t> </a:t>
            </a:r>
            <a:r>
              <a:rPr lang="en" altLang="zh-TW" dirty="0">
                <a:solidFill>
                  <a:schemeClr val="tx2">
                    <a:lumMod val="75000"/>
                  </a:schemeClr>
                </a:solidFill>
                <a:effectLst/>
              </a:rPr>
              <a:t>7763 Linux server with a 2.9GHz CPU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  <a:effectLst/>
              </a:rPr>
              <a:t>NVIDIA RTX A6000 GPU</a:t>
            </a:r>
          </a:p>
          <a:p>
            <a:r>
              <a:rPr lang="en-US" altLang="zh-TW" dirty="0"/>
              <a:t>Baseline</a:t>
            </a:r>
          </a:p>
          <a:p>
            <a:pPr lvl="1"/>
            <a:r>
              <a:rPr lang="en" altLang="zh-TW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DREAMPlace</a:t>
            </a:r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 + </a:t>
            </a:r>
            <a:r>
              <a:rPr lang="en" altLang="zh-TW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Routability</a:t>
            </a:r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 Optimization (RO) augmented with RUDY-based node inflation for </a:t>
            </a:r>
            <a:r>
              <a:rPr lang="en" altLang="zh-TW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routability</a:t>
            </a:r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 optimization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Cypress: A PCB placement tool that minimizes net crossings to improve </a:t>
            </a:r>
            <a:r>
              <a:rPr lang="en" altLang="zh-TW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routability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en-US" altLang="zh-TW" dirty="0"/>
              <a:t>Benchmark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  <a:effectLst/>
                <a:latin typeface="Helvetica" pitchFamily="2" charset="0"/>
              </a:rPr>
              <a:t>Clements-style Mach-Zehnder Interferometer (MZI) arrays</a:t>
            </a:r>
          </a:p>
          <a:p>
            <a:pPr lvl="1"/>
            <a:r>
              <a:rPr lang="en" altLang="zh-TW" dirty="0">
                <a:solidFill>
                  <a:schemeClr val="tx2">
                    <a:lumMod val="75000"/>
                  </a:schemeClr>
                </a:solidFill>
                <a:latin typeface="Helvetica" pitchFamily="2" charset="0"/>
              </a:rPr>
              <a:t>A</a:t>
            </a:r>
            <a:r>
              <a:rPr lang="en" altLang="zh-TW" dirty="0">
                <a:solidFill>
                  <a:schemeClr val="tx2">
                    <a:lumMod val="75000"/>
                  </a:schemeClr>
                </a:solidFill>
                <a:effectLst/>
                <a:latin typeface="Helvetica" pitchFamily="2" charset="0"/>
              </a:rPr>
              <a:t>n auto-searched photonic tensor core design (ADEPT) at two different scales (S/L)</a:t>
            </a:r>
            <a:endParaRPr lang="en" altLang="zh-TW" sz="1800" dirty="0">
              <a:solidFill>
                <a:schemeClr val="tx2">
                  <a:lumMod val="75000"/>
                </a:schemeClr>
              </a:solidFill>
              <a:effectLst/>
              <a:latin typeface="Helvetica" pitchFamily="2" charset="0"/>
            </a:endParaRPr>
          </a:p>
          <a:p>
            <a:r>
              <a:rPr lang="en-US" altLang="zh-TW" dirty="0"/>
              <a:t>Implementation</a:t>
            </a:r>
          </a:p>
          <a:p>
            <a:pPr lvl="1"/>
            <a:r>
              <a:rPr lang="en" altLang="zh-TW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Python, </a:t>
            </a:r>
            <a:r>
              <a:rPr lang="en" altLang="zh-TW" b="0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PyTorch</a:t>
            </a:r>
            <a:r>
              <a:rPr lang="en" altLang="zh-TW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 (</a:t>
            </a:r>
            <a:r>
              <a:rPr lang="en" altLang="zh-TW" b="0" i="0" u="none" strike="noStrike" dirty="0" err="1">
                <a:solidFill>
                  <a:schemeClr val="tx2">
                    <a:lumMod val="75000"/>
                  </a:schemeClr>
                </a:solidFill>
                <a:effectLst/>
              </a:rPr>
              <a:t>DREAMPlace</a:t>
            </a:r>
            <a:r>
              <a:rPr lang="en" altLang="zh-TW" b="0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-based)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2FF693-430E-0C7F-B5E7-D94A822C9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B58EFE4-F6F2-8E1B-2B7D-2C234269C98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16</a:t>
            </a:fld>
            <a:endParaRPr lang="en-US" altLang="zh-Hant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6D27992-6798-E7DD-5D6D-FB664C096F15}"/>
              </a:ext>
            </a:extLst>
          </p:cNvPr>
          <p:cNvSpPr txBox="1"/>
          <p:nvPr/>
        </p:nvSpPr>
        <p:spPr>
          <a:xfrm>
            <a:off x="7775066" y="6076890"/>
            <a:ext cx="25346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dirty="0"/>
              <a:t>Benchmark statistics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033337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545FB5-4F03-DD46-0635-6A5BA2CF8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Experiment Results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CE6230-AC5B-D131-C396-A304151130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Achieve 94.79% average </a:t>
            </a:r>
            <a:r>
              <a:rPr lang="en" altLang="zh-TW" dirty="0" err="1"/>
              <a:t>routability</a:t>
            </a:r>
            <a:r>
              <a:rPr lang="en" altLang="zh-TW" dirty="0"/>
              <a:t> across benchmarks</a:t>
            </a:r>
          </a:p>
          <a:p>
            <a:r>
              <a:rPr lang="en" altLang="zh-TW" dirty="0"/>
              <a:t>Minimize crossings (#CR) to reduce optical loss</a:t>
            </a:r>
          </a:p>
          <a:p>
            <a:r>
              <a:rPr lang="en" altLang="zh-TW" dirty="0"/>
              <a:t>Ensure faster runtimes than electronic EDA baselines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51194E-7DF2-78C6-6ED9-A0E87C48C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69B547-B446-2502-F864-6C335EE157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17</a:t>
            </a:fld>
            <a:endParaRPr lang="en-US" altLang="zh-Hant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FA3DCCE-3545-C126-116E-A67E3B2AFF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87" y="2405844"/>
            <a:ext cx="11096226" cy="3842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0560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2F1975-3940-3094-5FC6-325CE6896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BFF711-B05E-1395-B5CD-B365AFA6D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Introduction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Preliminaries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Problem Formulation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Methodology</a:t>
            </a:r>
          </a:p>
          <a:p>
            <a:r>
              <a:rPr lang="en-US" altLang="zh-TW" dirty="0">
                <a:solidFill>
                  <a:schemeClr val="bg1">
                    <a:lumMod val="85000"/>
                  </a:schemeClr>
                </a:solidFill>
              </a:rPr>
              <a:t>Experimental Results</a:t>
            </a:r>
          </a:p>
          <a:p>
            <a:r>
              <a:rPr lang="en-US" altLang="zh-TW" dirty="0"/>
              <a:t>Conclusion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2A7D7-6DD7-4FFF-478C-439EA0969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8DE3AA-B40B-7B79-45AF-EFB8C0B0EAE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18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708103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02971D-B4A5-54E7-49E5-8DA3083A2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Conclusion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1D8887-5CBF-C1ED-5E25-A98007714E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Propose Apollo, a GPU-accelerated analytical placement framework that enables scalable optimization for 1,000+ photonic components</a:t>
            </a:r>
          </a:p>
          <a:p>
            <a:endParaRPr lang="en" altLang="zh-TW" dirty="0"/>
          </a:p>
          <a:p>
            <a:r>
              <a:rPr lang="en" altLang="zh-TW" dirty="0"/>
              <a:t>Integrate photonic-specific models (</a:t>
            </a:r>
            <a:r>
              <a:rPr lang="en" altLang="zh-TW" dirty="0" err="1"/>
              <a:t>cosWA</a:t>
            </a:r>
            <a:r>
              <a:rPr lang="en" altLang="zh-TW" dirty="0"/>
              <a:t>, NS) and progressive constraints (CPGD) to optimize signal integrity and design regularity simultaneously</a:t>
            </a:r>
          </a:p>
          <a:p>
            <a:endParaRPr lang="en" altLang="zh-TW" dirty="0"/>
          </a:p>
          <a:p>
            <a:r>
              <a:rPr lang="en" altLang="zh-TW" dirty="0"/>
              <a:t>Achieve superior performance with 94.79% average </a:t>
            </a:r>
            <a:r>
              <a:rPr lang="en" altLang="zh-TW" dirty="0" err="1"/>
              <a:t>routability</a:t>
            </a:r>
            <a:r>
              <a:rPr lang="en" altLang="zh-TW" dirty="0"/>
              <a:t> and significantly reduced waveguide crossings compared to state-of-the-art baselines</a:t>
            </a:r>
          </a:p>
          <a:p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31171C-54C2-C0B0-A8C8-D6FCED65E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85CAF63-A4A8-CE27-489B-17110E861E0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19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30170165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3E2996-2A23-8968-464A-76DBBD5A3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Remarks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83BD309-EA90-BBBC-BC2A-C7795C9E5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Pros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Propose comprehensive evaluation across diverse benchmarks and configurations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Propose a placement framework aligned with industrial photonic design requirements</a:t>
            </a:r>
          </a:p>
          <a:p>
            <a:r>
              <a:rPr lang="en-US" altLang="zh-TW" dirty="0"/>
              <a:t>Cons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Provide detailed algorithmic descriptions but lack in-depth explanation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Lack notation table for quick symbol reference</a:t>
            </a:r>
          </a:p>
          <a:p>
            <a:r>
              <a:rPr lang="en-US" altLang="zh-TW" dirty="0"/>
              <a:t>My comments</a:t>
            </a:r>
          </a:p>
          <a:p>
            <a:pPr lvl="1"/>
            <a:r>
              <a:rPr lang="en" altLang="zh-TW" i="0" u="none" strike="noStrike" dirty="0">
                <a:solidFill>
                  <a:schemeClr val="tx2">
                    <a:lumMod val="75000"/>
                  </a:schemeClr>
                </a:solidFill>
                <a:effectLst/>
              </a:rPr>
              <a:t>Potential improvement in performance could be explored by integrating LiDAR 2.0 for validation</a:t>
            </a:r>
            <a:endParaRPr lang="en-US" altLang="zh-TW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4AB416C-4704-52A9-D551-D5F650DF1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Hant"/>
              <a:t> GIEE.NTU</a:t>
            </a:r>
            <a:endParaRPr lang="zh-Hant" altLang="zh-Hant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F8DF26-7DC1-62D5-07B9-E0B8A937F7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7BD2F5A-77B9-4B8A-9E53-DA43A439DF1A}" type="slidenum">
              <a:rPr lang="en-US" altLang="zh-Hant" smtClean="0"/>
              <a:pPr>
                <a:defRPr/>
              </a:pPr>
              <a:t>20</a:t>
            </a:fld>
            <a:endParaRPr lang="en-US" altLang="zh-Hant" dirty="0"/>
          </a:p>
        </p:txBody>
      </p:sp>
    </p:spTree>
    <p:extLst>
      <p:ext uri="{BB962C8B-B14F-4D97-AF65-F5344CB8AC3E}">
        <p14:creationId xmlns:p14="http://schemas.microsoft.com/office/powerpoint/2010/main" val="1799021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 txBox="1">
            <a:spLocks noGrp="1"/>
          </p:cNvSpPr>
          <p:nvPr>
            <p:ph type="title"/>
          </p:nvPr>
        </p:nvSpPr>
        <p:spPr>
          <a:xfrm>
            <a:off x="711200" y="7620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560" name="Google Shape;560;p53"/>
          <p:cNvSpPr txBox="1">
            <a:spLocks noGrp="1"/>
          </p:cNvSpPr>
          <p:nvPr>
            <p:ph type="body" idx="1"/>
          </p:nvPr>
        </p:nvSpPr>
        <p:spPr>
          <a:xfrm>
            <a:off x="711200" y="990600"/>
            <a:ext cx="10769700" cy="510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80"/>
              <a:buChar char="․"/>
            </a:pPr>
            <a:endParaRPr dirty="0"/>
          </a:p>
        </p:txBody>
      </p:sp>
      <p:sp>
        <p:nvSpPr>
          <p:cNvPr id="561" name="Google Shape;561;p53"/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54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GIEE, NTU</a:t>
            </a:r>
            <a:endParaRPr/>
          </a:p>
        </p:txBody>
      </p:sp>
      <p:sp>
        <p:nvSpPr>
          <p:cNvPr id="562" name="Google Shape;562;p53"/>
          <p:cNvSpPr txBox="1">
            <a:spLocks noGrp="1"/>
          </p:cNvSpPr>
          <p:nvPr>
            <p:ph type="sldNum" idx="12"/>
          </p:nvPr>
        </p:nvSpPr>
        <p:spPr>
          <a:xfrm>
            <a:off x="9042400" y="6324600"/>
            <a:ext cx="254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mtClean="0"/>
              <a:pPr marL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ts val="1200"/>
                <a:buNone/>
              </a:pPr>
              <a:t>21</a:t>
            </a:fld>
            <a:endParaRPr/>
          </a:p>
        </p:txBody>
      </p:sp>
      <p:grpSp>
        <p:nvGrpSpPr>
          <p:cNvPr id="563" name="Google Shape;563;p53"/>
          <p:cNvGrpSpPr/>
          <p:nvPr/>
        </p:nvGrpSpPr>
        <p:grpSpPr>
          <a:xfrm>
            <a:off x="443189" y="381361"/>
            <a:ext cx="11305623" cy="6095278"/>
            <a:chOff x="1559496" y="620688"/>
            <a:chExt cx="8742362" cy="5775325"/>
          </a:xfrm>
        </p:grpSpPr>
        <p:pic>
          <p:nvPicPr>
            <p:cNvPr id="564" name="Google Shape;564;p5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559496" y="620688"/>
              <a:ext cx="8742362" cy="57753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5" name="Google Shape;565;p53"/>
            <p:cNvSpPr txBox="1"/>
            <p:nvPr/>
          </p:nvSpPr>
          <p:spPr>
            <a:xfrm>
              <a:off x="4171314" y="3861048"/>
              <a:ext cx="6121500" cy="875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160"/>
                <a:buFont typeface="DFKai-SB"/>
                <a:buNone/>
              </a:pPr>
              <a:r>
                <a:rPr lang="en-US" sz="1800" b="1" i="0" u="none" strike="noStrike" cap="none">
                  <a:solidFill>
                    <a:srgbClr val="990000"/>
                  </a:solidFill>
                  <a:latin typeface="Arial"/>
                  <a:ea typeface="Arial"/>
                  <a:cs typeface="Arial"/>
                  <a:sym typeface="Arial"/>
                </a:rPr>
                <a:t> </a:t>
              </a:r>
              <a:r>
                <a:rPr lang="en-US" sz="5400" b="1" i="0" u="none" strike="noStrike" cap="none">
                  <a:solidFill>
                    <a:srgbClr val="000099"/>
                  </a:solidFill>
                  <a:latin typeface="Arial"/>
                  <a:ea typeface="Arial"/>
                  <a:cs typeface="Arial"/>
                  <a:sym typeface="Arial"/>
                </a:rPr>
                <a:t>Thank You!</a:t>
              </a:r>
              <a:endParaRPr sz="2800" b="1" i="0" u="none" strike="noStrike" cap="non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66449</TotalTime>
  <Words>1239</Words>
  <Application>Microsoft Macintosh PowerPoint</Application>
  <PresentationFormat>寬螢幕</PresentationFormat>
  <Paragraphs>244</Paragraphs>
  <Slides>21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2" baseType="lpstr">
      <vt:lpstr>-webkit-standard</vt:lpstr>
      <vt:lpstr>DFKai-SB</vt:lpstr>
      <vt:lpstr>DFKai-SB</vt:lpstr>
      <vt:lpstr>Google Sans Text</vt:lpstr>
      <vt:lpstr>Arial</vt:lpstr>
      <vt:lpstr>Cambria Math</vt:lpstr>
      <vt:lpstr>Helvetica</vt:lpstr>
      <vt:lpstr>Symbol</vt:lpstr>
      <vt:lpstr>Tahoma</vt:lpstr>
      <vt:lpstr>Wingdings</vt:lpstr>
      <vt:lpstr>Blends</vt:lpstr>
      <vt:lpstr>Apollo: Automated Routing-Informed Placement for Large-Scale Photonic Integrated Circuit</vt:lpstr>
      <vt:lpstr>Outline</vt:lpstr>
      <vt:lpstr>Outline</vt:lpstr>
      <vt:lpstr>Photonic Integrated Circuit (PIC)</vt:lpstr>
      <vt:lpstr>Previous Work</vt:lpstr>
      <vt:lpstr>Contribution</vt:lpstr>
      <vt:lpstr>Outline</vt:lpstr>
      <vt:lpstr>Analytical Mixed-Size Photonic Circuit Placement</vt:lpstr>
      <vt:lpstr>Outline</vt:lpstr>
      <vt:lpstr>Problem Formulation</vt:lpstr>
      <vt:lpstr>Outline</vt:lpstr>
      <vt:lpstr>Photonic-Specific Placement Objective</vt:lpstr>
      <vt:lpstr>Conditional Projected Gradient Descent (CPGD)</vt:lpstr>
      <vt:lpstr>Blockwise Adaptive Nesterov-Accelerated Gradient (BNAG)</vt:lpstr>
      <vt:lpstr>Outline</vt:lpstr>
      <vt:lpstr>Experimental Setup</vt:lpstr>
      <vt:lpstr>Experiment Results</vt:lpstr>
      <vt:lpstr>Outline</vt:lpstr>
      <vt:lpstr>Conclusion</vt:lpstr>
      <vt:lpstr>Remarks</vt:lpstr>
      <vt:lpstr>PowerPoint 簡報</vt:lpstr>
    </vt:vector>
  </TitlesOfParts>
  <Company>NTUEE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Pang-Yen Chou</dc:creator>
  <cp:lastModifiedBy>智祈 黃</cp:lastModifiedBy>
  <cp:revision>2266</cp:revision>
  <cp:lastPrinted>2013-02-20T05:37:24Z</cp:lastPrinted>
  <dcterms:created xsi:type="dcterms:W3CDTF">2010-05-04T15:31:14Z</dcterms:created>
  <dcterms:modified xsi:type="dcterms:W3CDTF">2026-01-08T06:03:44Z</dcterms:modified>
</cp:coreProperties>
</file>