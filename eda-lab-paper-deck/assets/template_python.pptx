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1164" r:id="rId2"/>
    <p:sldId id="1163" r:id="rId3"/>
    <p:sldId id="1182" r:id="rId4"/>
    <p:sldId id="1197" r:id="rId5"/>
    <p:sldId id="1185" r:id="rId6"/>
    <p:sldId id="1193" r:id="rId7"/>
    <p:sldId id="1186" r:id="rId8"/>
    <p:sldId id="1194" r:id="rId9"/>
    <p:sldId id="1183" r:id="rId10"/>
    <p:sldId id="1184" r:id="rId11"/>
    <p:sldId id="1200" r:id="rId12"/>
    <p:sldId id="1187" r:id="rId13"/>
    <p:sldId id="1203" r:id="rId14"/>
    <p:sldId id="296" r:id="rId15"/>
  </p:sldIdLst>
  <p:sldSz cx="12192000" cy="6858000"/>
  <p:notesSz cx="6797675" cy="9928225"/>
  <p:defaultTextStyle>
    <a:defPPr>
      <a:defRPr lang="zh-Hant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5688"/>
    <a:srgbClr val="9F403B"/>
    <a:srgbClr val="C49B26"/>
    <a:srgbClr val="B48100"/>
    <a:srgbClr val="598341"/>
    <a:srgbClr val="557EBB"/>
    <a:srgbClr val="9571A5"/>
    <a:srgbClr val="C25E5A"/>
    <a:srgbClr val="DEBC56"/>
    <a:srgbClr val="DF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17" autoAdjust="0"/>
    <p:restoredTop sz="82449" autoAdjust="0"/>
  </p:normalViewPr>
  <p:slideViewPr>
    <p:cSldViewPr>
      <p:cViewPr varScale="1">
        <p:scale>
          <a:sx n="93" d="100"/>
          <a:sy n="93" d="100"/>
        </p:scale>
        <p:origin x="232" y="4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38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2976" y="184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8E3E32E-25DC-4F90-BC71-1204820C214C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620073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" y="744538"/>
            <a:ext cx="6619875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Hant" altLang="en-US" noProof="0"/>
              <a:t>按一下以編輯母片</a:t>
            </a:r>
          </a:p>
          <a:p>
            <a:pPr lvl="1"/>
            <a:r>
              <a:rPr lang="zh-Hant" altLang="en-US" noProof="0"/>
              <a:t>第二層</a:t>
            </a:r>
          </a:p>
          <a:p>
            <a:pPr lvl="2"/>
            <a:r>
              <a:rPr lang="zh-Hant" altLang="en-US" noProof="0"/>
              <a:t>第三層</a:t>
            </a:r>
          </a:p>
          <a:p>
            <a:pPr lvl="3"/>
            <a:r>
              <a:rPr lang="zh-Hant" altLang="en-US" noProof="0"/>
              <a:t>第四層</a:t>
            </a:r>
          </a:p>
          <a:p>
            <a:pPr lvl="4"/>
            <a:r>
              <a:rPr lang="zh-Hant" altLang="en-US" noProof="0"/>
              <a:t>第五層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805D155-4C6A-4B13-920E-C2B08AFD570F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1213095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228554" lvl="0" indent="-1523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dirty="0"/>
              <a:t>This paper comes from UC San Diego and POSTECH (</a:t>
            </a:r>
            <a:r>
              <a:rPr lang="zh-TW" altLang="en-US" b="0" i="0" dirty="0">
                <a:solidFill>
                  <a:srgbClr val="001D35"/>
                </a:solidFill>
                <a:effectLst/>
                <a:latin typeface="Google Sans"/>
              </a:rPr>
              <a:t>浦項工科大學</a:t>
            </a:r>
            <a:r>
              <a:rPr lang="en-US" dirty="0"/>
              <a:t>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0093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dirty="0"/>
              <a:t>MRR </a:t>
            </a:r>
            <a:r>
              <a:rPr lang="zh-TW" altLang="en-US" dirty="0"/>
              <a:t>的共振波長可透過 </a:t>
            </a:r>
            <a:r>
              <a:rPr lang="zh-TW" altLang="en-US" b="1" dirty="0"/>
              <a:t>熱調諧 </a:t>
            </a:r>
            <a:r>
              <a:rPr lang="en-US" altLang="zh-TW" b="1" dirty="0"/>
              <a:t>(</a:t>
            </a:r>
            <a:r>
              <a:rPr lang="en" altLang="zh-TW" b="1" dirty="0"/>
              <a:t>thermal tuning)</a:t>
            </a:r>
            <a:r>
              <a:rPr lang="en" altLang="zh-TW" dirty="0"/>
              <a:t> </a:t>
            </a:r>
            <a:r>
              <a:rPr lang="zh-TW" altLang="en-US" dirty="0"/>
              <a:t>或 </a:t>
            </a:r>
            <a:r>
              <a:rPr lang="zh-TW" altLang="en-US" b="1" dirty="0"/>
              <a:t>電光調諧 </a:t>
            </a:r>
            <a:r>
              <a:rPr lang="en-US" altLang="zh-TW" b="1" dirty="0"/>
              <a:t>(</a:t>
            </a:r>
            <a:r>
              <a:rPr lang="en" altLang="zh-TW" b="1" dirty="0"/>
              <a:t>electro-optic tuning)</a:t>
            </a:r>
            <a:r>
              <a:rPr lang="en" altLang="zh-TW" dirty="0"/>
              <a:t> </a:t>
            </a:r>
            <a:r>
              <a:rPr lang="zh-TW" altLang="en-US" dirty="0"/>
              <a:t>改變共振波長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dirty="0"/>
              <a:t>MRR </a:t>
            </a:r>
            <a:r>
              <a:rPr lang="zh-TW" altLang="en-US" dirty="0"/>
              <a:t>與旁邊波導之間的 </a:t>
            </a:r>
            <a:r>
              <a:rPr lang="zh-TW" altLang="en-US" b="1" dirty="0"/>
              <a:t>耦合係數 </a:t>
            </a:r>
            <a:r>
              <a:rPr lang="en-US" altLang="zh-TW" b="1" dirty="0"/>
              <a:t>(</a:t>
            </a:r>
            <a:r>
              <a:rPr lang="en" altLang="zh-TW" b="1" dirty="0"/>
              <a:t>coupling coefficient)</a:t>
            </a:r>
            <a:r>
              <a:rPr lang="en" altLang="zh-TW" dirty="0"/>
              <a:t> </a:t>
            </a:r>
            <a:r>
              <a:rPr lang="zh-TW" altLang="en-US" dirty="0"/>
              <a:t>可精確調整，控制光進入微環和從微環輸出的比例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4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430774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hyperlink" Target="http://www.ntu.edu.tw/chinese/PageB.php" TargetMode="Externa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gray">
          <a:xfrm>
            <a:off x="719668" y="3213103"/>
            <a:ext cx="10968567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Hant" altLang="en-US" sz="240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auto">
          <a:xfrm>
            <a:off x="4572000" y="6400800"/>
            <a:ext cx="294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Hant" sz="1000" dirty="0"/>
              <a:t>The EDA Laboratory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28778"/>
            <a:ext cx="10363200" cy="1470025"/>
          </a:xfrm>
        </p:spPr>
        <p:txBody>
          <a:bodyPr/>
          <a:lstStyle>
            <a:lvl1pPr>
              <a:defRPr b="1">
                <a:ea typeface="標楷體" pitchFamily="65" charset="-120"/>
              </a:defRPr>
            </a:lvl1pPr>
          </a:lstStyle>
          <a:p>
            <a:pPr lvl="0"/>
            <a:r>
              <a:rPr lang="zh-Hant" altLang="en-US" noProof="0" dirty="0"/>
              <a:t>按一下以編輯母片標題樣式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357563"/>
            <a:ext cx="85344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>
                <a:ea typeface="標楷體" pitchFamily="65" charset="-120"/>
              </a:defRPr>
            </a:lvl1pPr>
          </a:lstStyle>
          <a:p>
            <a:pPr lvl="0"/>
            <a:r>
              <a:rPr lang="zh-Hant" altLang="en-US" noProof="0"/>
              <a:t>按一下以編輯母片副標題樣式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 algn="r">
              <a:defRPr sz="1200" i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B669535D-99B8-4C4F-9AC5-30555C9A9870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9951870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Hant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800"/>
            </a:lvl3pPr>
          </a:lstStyle>
          <a:p>
            <a:pPr lvl="0"/>
            <a:r>
              <a:rPr lang="zh-Hant" altLang="en-US" dirty="0"/>
              <a:t>按一下以編輯母片文字樣式</a:t>
            </a:r>
          </a:p>
          <a:p>
            <a:pPr lvl="1"/>
            <a:r>
              <a:rPr lang="zh-Hant" altLang="en-US" dirty="0"/>
              <a:t>第二層</a:t>
            </a:r>
          </a:p>
          <a:p>
            <a:pPr lvl="2"/>
            <a:r>
              <a:rPr lang="zh-Hant" altLang="en-US" dirty="0"/>
              <a:t>第三層</a:t>
            </a:r>
          </a:p>
          <a:p>
            <a:pPr lvl="3"/>
            <a:r>
              <a:rPr lang="zh-Hant" altLang="en-US" dirty="0"/>
              <a:t>第四層</a:t>
            </a:r>
          </a:p>
          <a:p>
            <a:pPr lvl="4"/>
            <a:r>
              <a:rPr lang="zh-Hant" altLang="en-US" dirty="0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D2F5A-77B9-4B8A-9E53-DA43A439DF1A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218317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B396A-21D2-48EB-BECF-D9F5F663F138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00994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1200" y="990600"/>
            <a:ext cx="5283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283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9BEE9-5A74-423D-A522-D0A3EEF2FE39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63039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3BC88-99BD-4C6D-AD4B-DB235EA03011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31082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0678B-80C3-49EF-98EE-8877075EB36F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88101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46171-5519-48EC-A13E-5F47B32F91D1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78344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48829-B386-4EB8-81E7-387B9CBAFFD9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33538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Hant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97E45-56D9-4066-A362-82FBA534CE56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33481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D24C7-CAA2-4CEB-8048-AB89905A5659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82318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88400" y="152400"/>
            <a:ext cx="2692400" cy="5943600"/>
          </a:xfrm>
        </p:spPr>
        <p:txBody>
          <a:bodyPr vert="eaVert"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1200" y="152400"/>
            <a:ext cx="7874000" cy="5943600"/>
          </a:xfrm>
        </p:spPr>
        <p:txBody>
          <a:bodyPr vert="eaVert"/>
          <a:lstStyle/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49217-486A-4FC5-8590-DDD2563FAC22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938817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 descr="ntu_cocotier"/>
          <p:cNvPicPr preferRelativeResize="0"/>
          <p:nvPr/>
        </p:nvPicPr>
        <p:blipFill rotWithShape="1">
          <a:blip r:embed="rId2">
            <a:alphaModFix/>
          </a:blip>
          <a:srcRect l="32001" t="7194" r="8000" b="7341"/>
          <a:stretch/>
        </p:blipFill>
        <p:spPr>
          <a:xfrm>
            <a:off x="8793876" y="2060847"/>
            <a:ext cx="3259137" cy="41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ntu_title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2450" y="5772286"/>
            <a:ext cx="2343150" cy="101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"/>
          <p:cNvGrpSpPr/>
          <p:nvPr/>
        </p:nvGrpSpPr>
        <p:grpSpPr>
          <a:xfrm>
            <a:off x="4744566" y="5640659"/>
            <a:ext cx="2592388" cy="771525"/>
            <a:chOff x="2109" y="3067"/>
            <a:chExt cx="1678" cy="499"/>
          </a:xfrm>
        </p:grpSpPr>
        <p:pic>
          <p:nvPicPr>
            <p:cNvPr id="20" name="Google Shape;20;p2" descr="NTU_logo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09" y="3067"/>
              <a:ext cx="499" cy="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新首頁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653" y="3067"/>
              <a:ext cx="1134" cy="4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"/>
          <p:cNvSpPr/>
          <p:nvPr/>
        </p:nvSpPr>
        <p:spPr>
          <a:xfrm>
            <a:off x="695400" y="1933575"/>
            <a:ext cx="10968567" cy="28575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rgbClr val="C0C0C0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4572000" y="6356350"/>
            <a:ext cx="294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EDA Lab</a:t>
            </a:r>
            <a:endParaRPr sz="12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965200" y="470172"/>
            <a:ext cx="10160000" cy="1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914400" y="6356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98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152400"/>
            <a:ext cx="1066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ant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90600"/>
            <a:ext cx="1076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ant"/>
              <a:t>Click to edit Master text styles</a:t>
            </a:r>
          </a:p>
          <a:p>
            <a:pPr lvl="1"/>
            <a:r>
              <a:rPr lang="en-US" altLang="zh-Hant"/>
              <a:t>Second level</a:t>
            </a:r>
          </a:p>
          <a:p>
            <a:pPr lvl="2"/>
            <a:r>
              <a:rPr lang="en-US" altLang="zh-Hant"/>
              <a:t>Third level</a:t>
            </a:r>
          </a:p>
          <a:p>
            <a:pPr lvl="3"/>
            <a:r>
              <a:rPr lang="en-US" altLang="zh-Hant"/>
              <a:t>Fourth level</a:t>
            </a:r>
          </a:p>
          <a:p>
            <a:pPr lvl="4"/>
            <a:r>
              <a:rPr lang="en-US" altLang="zh-Hant"/>
              <a:t>Fifth level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i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9B33945A-0152-4C70-9B70-7124E1BE976D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  <p:sp>
        <p:nvSpPr>
          <p:cNvPr id="8204" name="Rectangle 12"/>
          <p:cNvSpPr>
            <a:spLocks noChangeArrowheads="1"/>
          </p:cNvSpPr>
          <p:nvPr userDrawn="1"/>
        </p:nvSpPr>
        <p:spPr bwMode="gray">
          <a:xfrm>
            <a:off x="609602" y="838203"/>
            <a:ext cx="10968567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Hant" altLang="en-US" sz="240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4572000" y="6400800"/>
            <a:ext cx="294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Hant" sz="1000" dirty="0"/>
              <a:t>The EDA Laboratory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5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16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Han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9696400" y="630932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929680" y="194194"/>
            <a:ext cx="10225136" cy="167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b="1" dirty="0"/>
          </a:p>
        </p:txBody>
      </p:sp>
      <p:sp>
        <p:nvSpPr>
          <p:cNvPr id="98" name="Google Shape;98;p15"/>
          <p:cNvSpPr/>
          <p:nvPr/>
        </p:nvSpPr>
        <p:spPr>
          <a:xfrm>
            <a:off x="2156048" y="2390312"/>
            <a:ext cx="7772400" cy="1868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altLang="zh-TW" sz="2000" b="1" dirty="0">
                <a:solidFill>
                  <a:srgbClr val="333399"/>
                </a:solidFill>
                <a:ea typeface="標楷體" panose="03000509000000000000" pitchFamily="65" charset="-120"/>
              </a:rPr>
              <a:t>2025-XX-XX</a:t>
            </a:r>
            <a:endParaRPr lang="en-US"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2000"/>
            </a:pPr>
            <a:r>
              <a:rPr lang="en-US" altLang="zh-TW" sz="2000" b="1" dirty="0">
                <a:solidFill>
                  <a:schemeClr val="tx2"/>
                </a:solidFill>
                <a:latin typeface="+mn-lt"/>
                <a:ea typeface="標楷體" panose="03000509000000000000" pitchFamily="65" charset="-120"/>
              </a:rPr>
              <a:t>Presenter: </a:t>
            </a:r>
            <a:r>
              <a:rPr lang="en-US" altLang="zh-TW" sz="2000" b="1" dirty="0" err="1">
                <a:solidFill>
                  <a:schemeClr val="tx2"/>
                </a:solidFill>
                <a:latin typeface="+mn-lt"/>
                <a:ea typeface="標楷體" panose="03000509000000000000" pitchFamily="65" charset="-120"/>
              </a:rPr>
              <a:t>Zhih</a:t>
            </a:r>
            <a:r>
              <a:rPr lang="en-US" altLang="zh-TW" sz="2000" b="1" dirty="0">
                <a:solidFill>
                  <a:schemeClr val="tx2"/>
                </a:solidFill>
                <a:latin typeface="+mn-lt"/>
                <a:ea typeface="標楷體" panose="03000509000000000000" pitchFamily="65" charset="-120"/>
              </a:rPr>
              <a:t>-Chi Huang</a:t>
            </a:r>
            <a:endParaRPr lang="en-US" altLang="zh-Hant" sz="2000" b="1" dirty="0">
              <a:solidFill>
                <a:schemeClr val="tx2"/>
              </a:solidFill>
              <a:latin typeface="+mn-lt"/>
              <a:ea typeface="標楷體" panose="03000509000000000000" pitchFamily="65" charset="-120"/>
            </a:endParaRPr>
          </a:p>
          <a:p>
            <a:pPr lvl="0" algn="ctr">
              <a:buSzPts val="2000"/>
            </a:pPr>
            <a:r>
              <a:rPr lang="en-US" altLang="zh-TW" sz="2000" b="1" dirty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</p:txBody>
      </p:sp>
      <p:sp>
        <p:nvSpPr>
          <p:cNvPr id="99" name="Google Shape;99;p15"/>
          <p:cNvSpPr/>
          <p:nvPr/>
        </p:nvSpPr>
        <p:spPr>
          <a:xfrm>
            <a:off x="2667000" y="3929363"/>
            <a:ext cx="6858000" cy="180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The Electronic Design Automation Laboratory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National Taiwan University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Taipei 106, Taiwan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2025650" y="2075807"/>
            <a:ext cx="8135938" cy="111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de-DE" sz="16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GIEE, NTU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2025650" y="2053948"/>
            <a:ext cx="813593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Published in DAC’XX</a:t>
            </a:r>
          </a:p>
        </p:txBody>
      </p:sp>
    </p:spTree>
    <p:extLst>
      <p:ext uri="{BB962C8B-B14F-4D97-AF65-F5344CB8AC3E}">
        <p14:creationId xmlns:p14="http://schemas.microsoft.com/office/powerpoint/2010/main" val="228287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r>
              <a:rPr lang="en-US" altLang="zh-TW" dirty="0"/>
              <a:t>Contribution</a:t>
            </a:r>
          </a:p>
          <a:p>
            <a:r>
              <a:rPr lang="en-US" altLang="zh-TW" dirty="0"/>
              <a:t>Problem Formulation</a:t>
            </a:r>
          </a:p>
          <a:p>
            <a:r>
              <a:rPr lang="en-US" altLang="zh-TW" dirty="0"/>
              <a:t>Methodology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/>
              <a:t>Conclusion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2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218023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Contribution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  <a:p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3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58055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727A3-182A-4A36-8190-50ADCCB7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Previous 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AB04E8-577A-4F2D-8A26-49088AA0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06BBFE-597C-4E9E-BAD2-2988E5DE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 dirty="0"/>
              <a:t> GIEE.NTU</a:t>
            </a:r>
            <a:endParaRPr lang="zh-Hant" altLang="zh-Hant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886FEE-41B8-4005-A611-3A337D300F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4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221435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/>
              <a:t>Contribution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  <a:p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5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233721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EBFB5-85B3-463E-BA45-3A700F9F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Contribution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995695-1FD0-4B6B-BD41-E09EB3A8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28AC63-FA66-46B5-B15D-E44FF302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23E31E3-902A-409B-8989-DC33EDEF3D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6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273430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Contribution</a:t>
            </a:r>
          </a:p>
          <a:p>
            <a:r>
              <a:rPr lang="en-US" altLang="zh-TW" dirty="0"/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7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56365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0FED7-358C-4520-BFB7-3486587A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 Formulation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8AAE67-046B-4C10-9B42-602CD5056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Input</a:t>
            </a:r>
          </a:p>
          <a:p>
            <a:endParaRPr lang="en-US" altLang="zh-TW" dirty="0"/>
          </a:p>
          <a:p>
            <a:r>
              <a:rPr lang="en-US" altLang="zh-TW" dirty="0"/>
              <a:t>Output</a:t>
            </a:r>
          </a:p>
          <a:p>
            <a:endParaRPr lang="en-US" altLang="zh-TW" dirty="0"/>
          </a:p>
          <a:p>
            <a:r>
              <a:rPr lang="en-US" altLang="zh-TW" dirty="0"/>
              <a:t>Subject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78EBE5-9882-48FB-AC82-7730E6A9F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60F4FC-0611-4F00-A1D2-D0B0B9BA16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8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69552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Contribution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/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9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526679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Contribution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10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8819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B44BC-D654-3C33-EBDD-97432F99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Setup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EC16AE-1435-56E5-4344-E84E22781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2FF693-430E-0C7F-B5E7-D94A822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58EFE4-F6F2-8E1B-2B7D-2C234269C9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11</a:t>
            </a:fld>
            <a:endParaRPr lang="en-US" altLang="zh-Hant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6D27992-6798-E7DD-5D6D-FB664C096F15}"/>
              </a:ext>
            </a:extLst>
          </p:cNvPr>
          <p:cNvSpPr txBox="1"/>
          <p:nvPr/>
        </p:nvSpPr>
        <p:spPr>
          <a:xfrm>
            <a:off x="7775066" y="6076890"/>
            <a:ext cx="2534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Benchmark statistics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33337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Contribution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/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12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708103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02971D-B4A5-54E7-49E5-8DA3083A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1D8887-5CBF-C1ED-5E25-A98007714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Pros</a:t>
            </a:r>
          </a:p>
          <a:p>
            <a:endParaRPr lang="en-US" altLang="zh-TW" dirty="0"/>
          </a:p>
          <a:p>
            <a:r>
              <a:rPr lang="en-US" altLang="zh-TW" dirty="0"/>
              <a:t>Cons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31171C-54C2-C0B0-A8C8-D6FCED65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5CAF63-A4A8-CE27-489B-17110E861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13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017016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 txBox="1">
            <a:spLocks noGrp="1"/>
          </p:cNvSpPr>
          <p:nvPr>
            <p:ph type="title"/>
          </p:nvPr>
        </p:nvSpPr>
        <p:spPr>
          <a:xfrm>
            <a:off x="711200" y="7620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0" name="Google Shape;560;p53"/>
          <p:cNvSpPr txBox="1">
            <a:spLocks noGrp="1"/>
          </p:cNvSpPr>
          <p:nvPr>
            <p:ph type="body" idx="1"/>
          </p:nvPr>
        </p:nvSpPr>
        <p:spPr>
          <a:xfrm>
            <a:off x="711200" y="990600"/>
            <a:ext cx="107697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․"/>
            </a:pPr>
            <a:endParaRPr dirty="0"/>
          </a:p>
        </p:txBody>
      </p:sp>
      <p:sp>
        <p:nvSpPr>
          <p:cNvPr id="561" name="Google Shape;561;p5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GIEE, NTU</a:t>
            </a:r>
            <a:endParaRPr/>
          </a:p>
        </p:txBody>
      </p:sp>
      <p:sp>
        <p:nvSpPr>
          <p:cNvPr id="562" name="Google Shape;562;p53"/>
          <p:cNvSpPr txBox="1">
            <a:spLocks noGrp="1"/>
          </p:cNvSpPr>
          <p:nvPr>
            <p:ph type="sldNum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14</a:t>
            </a:fld>
            <a:endParaRPr/>
          </a:p>
        </p:txBody>
      </p:sp>
      <p:grpSp>
        <p:nvGrpSpPr>
          <p:cNvPr id="563" name="Google Shape;563;p53"/>
          <p:cNvGrpSpPr/>
          <p:nvPr/>
        </p:nvGrpSpPr>
        <p:grpSpPr>
          <a:xfrm>
            <a:off x="443189" y="381361"/>
            <a:ext cx="11305623" cy="6095278"/>
            <a:chOff x="1559496" y="620688"/>
            <a:chExt cx="8742362" cy="5775325"/>
          </a:xfrm>
        </p:grpSpPr>
        <p:pic>
          <p:nvPicPr>
            <p:cNvPr id="564" name="Google Shape;564;p5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59496" y="620688"/>
              <a:ext cx="8742362" cy="5775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" name="Google Shape;565;p53"/>
            <p:cNvSpPr txBox="1"/>
            <p:nvPr/>
          </p:nvSpPr>
          <p:spPr>
            <a:xfrm>
              <a:off x="4171314" y="3861048"/>
              <a:ext cx="61215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60"/>
                <a:buFont typeface="DFKai-SB"/>
                <a:buNone/>
              </a:pPr>
              <a:r>
                <a:rPr lang="en-US" sz="1800" b="1" i="0" u="none" strike="noStrike" cap="none">
                  <a:solidFill>
                    <a:srgbClr val="99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5400" b="1" i="0" u="none" strike="noStrike" cap="non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Thank You!</a:t>
              </a:r>
              <a:endParaRPr sz="28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66002</TotalTime>
  <Words>244</Words>
  <Application>Microsoft Macintosh PowerPoint</Application>
  <PresentationFormat>寬螢幕</PresentationFormat>
  <Paragraphs>104</Paragraphs>
  <Slides>14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DFKai-SB</vt:lpstr>
      <vt:lpstr>DFKai-SB</vt:lpstr>
      <vt:lpstr>Google Sans</vt:lpstr>
      <vt:lpstr>Arial</vt:lpstr>
      <vt:lpstr>Symbol</vt:lpstr>
      <vt:lpstr>Tahoma</vt:lpstr>
      <vt:lpstr>Wingdings</vt:lpstr>
      <vt:lpstr>Blends</vt:lpstr>
      <vt:lpstr>PowerPoint 簡報</vt:lpstr>
      <vt:lpstr>Outline</vt:lpstr>
      <vt:lpstr>Outline</vt:lpstr>
      <vt:lpstr>Previous Work</vt:lpstr>
      <vt:lpstr>Outline</vt:lpstr>
      <vt:lpstr>Contribution</vt:lpstr>
      <vt:lpstr>Outline</vt:lpstr>
      <vt:lpstr>Problem Formulation</vt:lpstr>
      <vt:lpstr>Outline</vt:lpstr>
      <vt:lpstr>Outline</vt:lpstr>
      <vt:lpstr>Experimental Setup</vt:lpstr>
      <vt:lpstr>Outline</vt:lpstr>
      <vt:lpstr>Conclusion</vt:lpstr>
      <vt:lpstr>PowerPoint 簡報</vt:lpstr>
    </vt:vector>
  </TitlesOfParts>
  <Company>NTUEE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Pang-Yen Chou</dc:creator>
  <cp:lastModifiedBy>智祈 黃</cp:lastModifiedBy>
  <cp:revision>2261</cp:revision>
  <cp:lastPrinted>2013-02-20T05:37:24Z</cp:lastPrinted>
  <dcterms:created xsi:type="dcterms:W3CDTF">2010-05-04T15:31:14Z</dcterms:created>
  <dcterms:modified xsi:type="dcterms:W3CDTF">2026-05-25T03:52:54Z</dcterms:modified>
</cp:coreProperties>
</file>